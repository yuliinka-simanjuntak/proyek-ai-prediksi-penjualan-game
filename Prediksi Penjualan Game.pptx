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6858000" cx="12192000"/>
  <p:notesSz cx="6858000" cy="9144000"/>
  <p:embeddedFontLst>
    <p:embeddedFont>
      <p:font typeface="Urbanist Light"/>
      <p:regular r:id="rId29"/>
      <p:bold r:id="rId30"/>
      <p:italic r:id="rId31"/>
      <p:boldItalic r:id="rId32"/>
    </p:embeddedFont>
    <p:embeddedFont>
      <p:font typeface="Urbanist Medium"/>
      <p:regular r:id="rId33"/>
      <p:bold r:id="rId34"/>
      <p:italic r:id="rId35"/>
      <p:boldItalic r:id="rId36"/>
    </p:embeddedFont>
    <p:embeddedFont>
      <p:font typeface="Urbanist"/>
      <p:regular r:id="rId37"/>
      <p:bold r:id="rId38"/>
      <p:italic r:id="rId39"/>
      <p:boldItalic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7499ABC-314E-415A-9807-918D11E74483}">
  <a:tblStyle styleId="{77499ABC-314E-415A-9807-918D11E74483}"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Urbanist-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UrbanistLigh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UrbanistLight-italic.fntdata"/><Relationship Id="rId30" Type="http://schemas.openxmlformats.org/officeDocument/2006/relationships/font" Target="fonts/UrbanistLight-bold.fntdata"/><Relationship Id="rId11" Type="http://schemas.openxmlformats.org/officeDocument/2006/relationships/slide" Target="slides/slide5.xml"/><Relationship Id="rId33" Type="http://schemas.openxmlformats.org/officeDocument/2006/relationships/font" Target="fonts/UrbanistMedium-regular.fntdata"/><Relationship Id="rId10" Type="http://schemas.openxmlformats.org/officeDocument/2006/relationships/slide" Target="slides/slide4.xml"/><Relationship Id="rId32" Type="http://schemas.openxmlformats.org/officeDocument/2006/relationships/font" Target="fonts/UrbanistLight-boldItalic.fntdata"/><Relationship Id="rId13" Type="http://schemas.openxmlformats.org/officeDocument/2006/relationships/slide" Target="slides/slide7.xml"/><Relationship Id="rId35" Type="http://schemas.openxmlformats.org/officeDocument/2006/relationships/font" Target="fonts/UrbanistMedium-italic.fntdata"/><Relationship Id="rId12" Type="http://schemas.openxmlformats.org/officeDocument/2006/relationships/slide" Target="slides/slide6.xml"/><Relationship Id="rId34" Type="http://schemas.openxmlformats.org/officeDocument/2006/relationships/font" Target="fonts/UrbanistMedium-bold.fntdata"/><Relationship Id="rId15" Type="http://schemas.openxmlformats.org/officeDocument/2006/relationships/slide" Target="slides/slide9.xml"/><Relationship Id="rId37" Type="http://schemas.openxmlformats.org/officeDocument/2006/relationships/font" Target="fonts/Urbanist-regular.fntdata"/><Relationship Id="rId14" Type="http://schemas.openxmlformats.org/officeDocument/2006/relationships/slide" Target="slides/slide8.xml"/><Relationship Id="rId36" Type="http://schemas.openxmlformats.org/officeDocument/2006/relationships/font" Target="fonts/UrbanistMedium-boldItalic.fntdata"/><Relationship Id="rId17" Type="http://schemas.openxmlformats.org/officeDocument/2006/relationships/slide" Target="slides/slide11.xml"/><Relationship Id="rId39" Type="http://schemas.openxmlformats.org/officeDocument/2006/relationships/font" Target="fonts/Urbanist-italic.fntdata"/><Relationship Id="rId16" Type="http://schemas.openxmlformats.org/officeDocument/2006/relationships/slide" Target="slides/slide10.xml"/><Relationship Id="rId38" Type="http://schemas.openxmlformats.org/officeDocument/2006/relationships/font" Target="fonts/Urbanist-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2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image" Target="../media/image12.png"/><Relationship Id="rId5" Type="http://schemas.openxmlformats.org/officeDocument/2006/relationships/image" Target="../media/image21.png"/><Relationship Id="rId6" Type="http://schemas.openxmlformats.org/officeDocument/2006/relationships/image" Target="../media/image1.png"/><Relationship Id="rId7" Type="http://schemas.openxmlformats.org/officeDocument/2006/relationships/image" Target="../media/image7.png"/><Relationship Id="rId8" Type="http://schemas.openxmlformats.org/officeDocument/2006/relationships/image" Target="../media/image3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14.png"/><Relationship Id="rId9" Type="http://schemas.openxmlformats.org/officeDocument/2006/relationships/image" Target="../media/image35.png"/><Relationship Id="rId5" Type="http://schemas.openxmlformats.org/officeDocument/2006/relationships/image" Target="../media/image10.png"/><Relationship Id="rId6" Type="http://schemas.openxmlformats.org/officeDocument/2006/relationships/image" Target="../media/image18.png"/><Relationship Id="rId7" Type="http://schemas.openxmlformats.org/officeDocument/2006/relationships/image" Target="../media/image40.png"/><Relationship Id="rId8"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13.jpg"/><Relationship Id="rId5" Type="http://schemas.openxmlformats.org/officeDocument/2006/relationships/image" Target="../media/image15.png"/><Relationship Id="rId6"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23.png"/><Relationship Id="rId9" Type="http://schemas.openxmlformats.org/officeDocument/2006/relationships/image" Target="../media/image17.png"/><Relationship Id="rId5" Type="http://schemas.openxmlformats.org/officeDocument/2006/relationships/image" Target="../media/image22.png"/><Relationship Id="rId6" Type="http://schemas.openxmlformats.org/officeDocument/2006/relationships/image" Target="../media/image11.png"/><Relationship Id="rId7" Type="http://schemas.openxmlformats.org/officeDocument/2006/relationships/image" Target="../media/image24.png"/><Relationship Id="rId8"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9.png"/><Relationship Id="rId9" Type="http://schemas.openxmlformats.org/officeDocument/2006/relationships/image" Target="../media/image34.png"/><Relationship Id="rId5" Type="http://schemas.openxmlformats.org/officeDocument/2006/relationships/image" Target="../media/image38.png"/><Relationship Id="rId6" Type="http://schemas.openxmlformats.org/officeDocument/2006/relationships/image" Target="../media/image27.png"/><Relationship Id="rId7" Type="http://schemas.openxmlformats.org/officeDocument/2006/relationships/image" Target="../media/image47.png"/><Relationship Id="rId8" Type="http://schemas.openxmlformats.org/officeDocument/2006/relationships/image" Target="../media/image4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28.png"/><Relationship Id="rId5"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29.png"/><Relationship Id="rId9" Type="http://schemas.openxmlformats.org/officeDocument/2006/relationships/image" Target="../media/image26.png"/><Relationship Id="rId5" Type="http://schemas.openxmlformats.org/officeDocument/2006/relationships/image" Target="../media/image32.png"/><Relationship Id="rId6" Type="http://schemas.openxmlformats.org/officeDocument/2006/relationships/image" Target="../media/image31.png"/><Relationship Id="rId7" Type="http://schemas.openxmlformats.org/officeDocument/2006/relationships/image" Target="../media/image53.png"/><Relationship Id="rId8" Type="http://schemas.openxmlformats.org/officeDocument/2006/relationships/image" Target="../media/image3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59.png"/><Relationship Id="rId5"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54.png"/><Relationship Id="rId5" Type="http://schemas.openxmlformats.org/officeDocument/2006/relationships/image" Target="../media/image50.png"/><Relationship Id="rId6" Type="http://schemas.openxmlformats.org/officeDocument/2006/relationships/image" Target="../media/image46.png"/><Relationship Id="rId7" Type="http://schemas.openxmlformats.org/officeDocument/2006/relationships/image" Target="../media/image4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39.png"/><Relationship Id="rId5" Type="http://schemas.openxmlformats.org/officeDocument/2006/relationships/image" Target="../media/image61.png"/><Relationship Id="rId6" Type="http://schemas.openxmlformats.org/officeDocument/2006/relationships/image" Target="../media/image52.png"/><Relationship Id="rId7" Type="http://schemas.openxmlformats.org/officeDocument/2006/relationships/image" Target="../media/image5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29.png"/><Relationship Id="rId9" Type="http://schemas.openxmlformats.org/officeDocument/2006/relationships/image" Target="../media/image58.png"/><Relationship Id="rId5" Type="http://schemas.openxmlformats.org/officeDocument/2006/relationships/image" Target="../media/image32.png"/><Relationship Id="rId6" Type="http://schemas.openxmlformats.org/officeDocument/2006/relationships/image" Target="../media/image31.png"/><Relationship Id="rId7" Type="http://schemas.openxmlformats.org/officeDocument/2006/relationships/image" Target="../media/image62.png"/><Relationship Id="rId8" Type="http://schemas.openxmlformats.org/officeDocument/2006/relationships/image" Target="../media/image5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image" Target="../media/image56.png"/><Relationship Id="rId5" Type="http://schemas.openxmlformats.org/officeDocument/2006/relationships/image" Target="../media/image57.jpg"/><Relationship Id="rId6"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85" name="Google Shape;85;p13"/>
          <p:cNvPicPr preferRelativeResize="0"/>
          <p:nvPr/>
        </p:nvPicPr>
        <p:blipFill rotWithShape="1">
          <a:blip r:embed="rId4">
            <a:alphaModFix/>
          </a:blip>
          <a:srcRect b="0" l="0" r="0" t="0"/>
          <a:stretch/>
        </p:blipFill>
        <p:spPr>
          <a:xfrm>
            <a:off x="4457700" y="4357538"/>
            <a:ext cx="3276600" cy="817215"/>
          </a:xfrm>
          <a:prstGeom prst="rect">
            <a:avLst/>
          </a:prstGeom>
          <a:noFill/>
          <a:ln>
            <a:noFill/>
          </a:ln>
        </p:spPr>
      </p:pic>
      <p:sp>
        <p:nvSpPr>
          <p:cNvPr id="86" name="Google Shape;86;p13"/>
          <p:cNvSpPr txBox="1"/>
          <p:nvPr/>
        </p:nvSpPr>
        <p:spPr>
          <a:xfrm>
            <a:off x="1595437" y="1683246"/>
            <a:ext cx="9001125" cy="1508521"/>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5400" u="none" cap="none" strike="noStrike">
                <a:solidFill>
                  <a:srgbClr val="F0F0F0"/>
                </a:solidFill>
                <a:latin typeface="Urbanist"/>
                <a:ea typeface="Urbanist"/>
                <a:cs typeface="Urbanist"/>
                <a:sym typeface="Urbanist"/>
              </a:rPr>
              <a:t>Prediksi Penjualan &amp; Popularitas Game</a:t>
            </a:r>
            <a:endParaRPr/>
          </a:p>
        </p:txBody>
      </p:sp>
      <p:sp>
        <p:nvSpPr>
          <p:cNvPr id="87" name="Google Shape;87;p13"/>
          <p:cNvSpPr txBox="1"/>
          <p:nvPr/>
        </p:nvSpPr>
        <p:spPr>
          <a:xfrm>
            <a:off x="1809750" y="3382267"/>
            <a:ext cx="8572500" cy="36567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A3A3A3"/>
                </a:solidFill>
                <a:latin typeface="Urbanist Light"/>
                <a:ea typeface="Urbanist Light"/>
                <a:cs typeface="Urbanist Light"/>
                <a:sym typeface="Urbanist Light"/>
              </a:rPr>
              <a:t>Pendekatan Kecerdasan Artificial Menggunakan XGBoost dan Neural Networks</a:t>
            </a:r>
            <a:endParaRPr/>
          </a:p>
        </p:txBody>
      </p:sp>
      <p:sp>
        <p:nvSpPr>
          <p:cNvPr id="88" name="Google Shape;88;p13"/>
          <p:cNvSpPr txBox="1"/>
          <p:nvPr/>
        </p:nvSpPr>
        <p:spPr>
          <a:xfrm>
            <a:off x="4457700" y="4729013"/>
            <a:ext cx="32766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FFFFFF"/>
                </a:solidFill>
                <a:latin typeface="Urbanist Medium"/>
                <a:ea typeface="Urbanist Medium"/>
                <a:cs typeface="Urbanist Medium"/>
                <a:sym typeface="Urbanist Medium"/>
              </a:rPr>
              <a:t>Program Studi S1 Sains Data - UNESA 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92" name="Shape 92"/>
        <p:cNvGrpSpPr/>
        <p:nvPr/>
      </p:nvGrpSpPr>
      <p:grpSpPr>
        <a:xfrm>
          <a:off x="0" y="0"/>
          <a:ext cx="0" cy="0"/>
          <a:chOff x="0" y="0"/>
          <a:chExt cx="0" cy="0"/>
        </a:xfrm>
      </p:grpSpPr>
      <p:pic>
        <p:nvPicPr>
          <p:cNvPr descr="image.png" id="93" name="Google Shape;93;p1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94" name="Google Shape;94;p14"/>
          <p:cNvPicPr preferRelativeResize="0"/>
          <p:nvPr/>
        </p:nvPicPr>
        <p:blipFill rotWithShape="1">
          <a:blip r:embed="rId4">
            <a:alphaModFix/>
          </a:blip>
          <a:srcRect b="0" l="0" r="0" t="0"/>
          <a:stretch/>
        </p:blipFill>
        <p:spPr>
          <a:xfrm>
            <a:off x="581025" y="2223194"/>
            <a:ext cx="3486150" cy="2596455"/>
          </a:xfrm>
          <a:prstGeom prst="rect">
            <a:avLst/>
          </a:prstGeom>
          <a:noFill/>
          <a:ln>
            <a:noFill/>
          </a:ln>
        </p:spPr>
      </p:pic>
      <p:pic>
        <p:nvPicPr>
          <p:cNvPr descr="image.png" id="95" name="Google Shape;95;p14"/>
          <p:cNvPicPr preferRelativeResize="0"/>
          <p:nvPr/>
        </p:nvPicPr>
        <p:blipFill rotWithShape="1">
          <a:blip r:embed="rId5">
            <a:alphaModFix/>
          </a:blip>
          <a:srcRect b="0" l="0" r="0" t="0"/>
          <a:stretch/>
        </p:blipFill>
        <p:spPr>
          <a:xfrm>
            <a:off x="4352925" y="2223194"/>
            <a:ext cx="3486150" cy="2596455"/>
          </a:xfrm>
          <a:prstGeom prst="rect">
            <a:avLst/>
          </a:prstGeom>
          <a:noFill/>
          <a:ln>
            <a:noFill/>
          </a:ln>
        </p:spPr>
      </p:pic>
      <p:pic>
        <p:nvPicPr>
          <p:cNvPr descr="image.png" id="96" name="Google Shape;96;p14"/>
          <p:cNvPicPr preferRelativeResize="0"/>
          <p:nvPr/>
        </p:nvPicPr>
        <p:blipFill rotWithShape="1">
          <a:blip r:embed="rId6">
            <a:alphaModFix/>
          </a:blip>
          <a:srcRect b="0" l="0" r="0" t="0"/>
          <a:stretch/>
        </p:blipFill>
        <p:spPr>
          <a:xfrm>
            <a:off x="8124825" y="2223194"/>
            <a:ext cx="3486150" cy="2596455"/>
          </a:xfrm>
          <a:prstGeom prst="rect">
            <a:avLst/>
          </a:prstGeom>
          <a:noFill/>
          <a:ln>
            <a:noFill/>
          </a:ln>
        </p:spPr>
      </p:pic>
      <p:sp>
        <p:nvSpPr>
          <p:cNvPr id="97" name="Google Shape;97;p14"/>
          <p:cNvSpPr txBox="1"/>
          <p:nvPr/>
        </p:nvSpPr>
        <p:spPr>
          <a:xfrm>
            <a:off x="581025" y="5105400"/>
            <a:ext cx="11029950" cy="2437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200" u="none" cap="none" strike="noStrike">
                <a:solidFill>
                  <a:srgbClr val="A3A3A3"/>
                </a:solidFill>
                <a:latin typeface="Urbanist"/>
                <a:ea typeface="Urbanist"/>
                <a:cs typeface="Urbanist"/>
                <a:sym typeface="Urbanist"/>
              </a:rPr>
              <a:t>Dosen Pengampu: Riskyana Dewi Intan Puspitasari, M.Kom. &amp; Yuni Rosita Dewi, M.Si.</a:t>
            </a:r>
            <a:endParaRPr/>
          </a:p>
        </p:txBody>
      </p:sp>
      <p:sp>
        <p:nvSpPr>
          <p:cNvPr id="98" name="Google Shape;98;p14"/>
          <p:cNvSpPr txBox="1"/>
          <p:nvPr/>
        </p:nvSpPr>
        <p:spPr>
          <a:xfrm>
            <a:off x="1397109" y="3261419"/>
            <a:ext cx="1853981"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Muh. Argya I.I.P.M</a:t>
            </a:r>
            <a:endParaRPr/>
          </a:p>
        </p:txBody>
      </p:sp>
      <p:sp>
        <p:nvSpPr>
          <p:cNvPr id="99" name="Google Shape;99;p14"/>
          <p:cNvSpPr txBox="1"/>
          <p:nvPr/>
        </p:nvSpPr>
        <p:spPr>
          <a:xfrm>
            <a:off x="1833612" y="4012244"/>
            <a:ext cx="981000" cy="20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350" u="none" cap="none" strike="noStrike">
                <a:solidFill>
                  <a:srgbClr val="A3A3A3"/>
                </a:solidFill>
                <a:latin typeface="Urbanist"/>
                <a:ea typeface="Urbanist"/>
                <a:cs typeface="Urbanist"/>
                <a:sym typeface="Urbanist"/>
              </a:rPr>
              <a:t>240315</a:t>
            </a:r>
            <a:r>
              <a:rPr b="0" i="0" lang="en-US" sz="1350" u="none" cap="none" strike="noStrike">
                <a:solidFill>
                  <a:srgbClr val="A3A3A3"/>
                </a:solidFill>
                <a:latin typeface="Urbanist"/>
                <a:ea typeface="Urbanist"/>
                <a:cs typeface="Urbanist"/>
                <a:sym typeface="Urbanist"/>
              </a:rPr>
              <a:t>54042</a:t>
            </a:r>
            <a:endParaRPr/>
          </a:p>
        </p:txBody>
      </p:sp>
      <p:sp>
        <p:nvSpPr>
          <p:cNvPr id="100" name="Google Shape;100;p14"/>
          <p:cNvSpPr txBox="1"/>
          <p:nvPr/>
        </p:nvSpPr>
        <p:spPr>
          <a:xfrm>
            <a:off x="5447016" y="3261419"/>
            <a:ext cx="1297818"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Yuli Inka V.S</a:t>
            </a:r>
            <a:endParaRPr/>
          </a:p>
        </p:txBody>
      </p:sp>
      <p:sp>
        <p:nvSpPr>
          <p:cNvPr id="101" name="Google Shape;101;p14"/>
          <p:cNvSpPr txBox="1"/>
          <p:nvPr/>
        </p:nvSpPr>
        <p:spPr>
          <a:xfrm>
            <a:off x="5657850" y="4012244"/>
            <a:ext cx="876300" cy="20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350" u="none" cap="none" strike="noStrike">
                <a:solidFill>
                  <a:srgbClr val="A3A3A3"/>
                </a:solidFill>
                <a:latin typeface="Urbanist"/>
                <a:ea typeface="Urbanist"/>
                <a:cs typeface="Urbanist"/>
                <a:sym typeface="Urbanist"/>
              </a:rPr>
              <a:t>24031554118</a:t>
            </a:r>
            <a:endParaRPr/>
          </a:p>
        </p:txBody>
      </p:sp>
      <p:sp>
        <p:nvSpPr>
          <p:cNvPr id="102" name="Google Shape;102;p14"/>
          <p:cNvSpPr txBox="1"/>
          <p:nvPr/>
        </p:nvSpPr>
        <p:spPr>
          <a:xfrm>
            <a:off x="8953566" y="3261419"/>
            <a:ext cx="1828666"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Nagatan Alief P.S</a:t>
            </a:r>
            <a:endParaRPr/>
          </a:p>
        </p:txBody>
      </p:sp>
      <p:sp>
        <p:nvSpPr>
          <p:cNvPr id="103" name="Google Shape;103;p14"/>
          <p:cNvSpPr txBox="1"/>
          <p:nvPr/>
        </p:nvSpPr>
        <p:spPr>
          <a:xfrm>
            <a:off x="9377412" y="3955632"/>
            <a:ext cx="1076400" cy="2079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US" sz="1350" u="none" cap="none" strike="noStrike">
                <a:solidFill>
                  <a:srgbClr val="A3A3A3"/>
                </a:solidFill>
                <a:latin typeface="Urbanist"/>
                <a:ea typeface="Urbanist"/>
                <a:cs typeface="Urbanist"/>
                <a:sym typeface="Urbanist"/>
              </a:rPr>
              <a:t>24031554086</a:t>
            </a:r>
            <a:endParaRPr/>
          </a:p>
        </p:txBody>
      </p:sp>
      <p:pic>
        <p:nvPicPr>
          <p:cNvPr descr="image.png" id="104" name="Google Shape;104;p14"/>
          <p:cNvPicPr preferRelativeResize="0"/>
          <p:nvPr/>
        </p:nvPicPr>
        <p:blipFill rotWithShape="1">
          <a:blip r:embed="rId7">
            <a:alphaModFix/>
          </a:blip>
          <a:srcRect b="0" l="0" r="0" t="0"/>
          <a:stretch/>
        </p:blipFill>
        <p:spPr>
          <a:xfrm>
            <a:off x="2124075" y="2556569"/>
            <a:ext cx="400050" cy="457200"/>
          </a:xfrm>
          <a:prstGeom prst="rect">
            <a:avLst/>
          </a:prstGeom>
          <a:noFill/>
          <a:ln>
            <a:noFill/>
          </a:ln>
        </p:spPr>
      </p:pic>
      <p:pic>
        <p:nvPicPr>
          <p:cNvPr descr="image.png" id="105" name="Google Shape;105;p14"/>
          <p:cNvPicPr preferRelativeResize="0"/>
          <p:nvPr/>
        </p:nvPicPr>
        <p:blipFill rotWithShape="1">
          <a:blip r:embed="rId8">
            <a:alphaModFix/>
          </a:blip>
          <a:srcRect b="0" l="0" r="0" t="0"/>
          <a:stretch/>
        </p:blipFill>
        <p:spPr>
          <a:xfrm>
            <a:off x="5895975" y="2556569"/>
            <a:ext cx="400050" cy="457200"/>
          </a:xfrm>
          <a:prstGeom prst="rect">
            <a:avLst/>
          </a:prstGeom>
          <a:noFill/>
          <a:ln>
            <a:noFill/>
          </a:ln>
        </p:spPr>
      </p:pic>
      <p:pic>
        <p:nvPicPr>
          <p:cNvPr descr="image.png" id="106" name="Google Shape;106;p14"/>
          <p:cNvPicPr preferRelativeResize="0"/>
          <p:nvPr/>
        </p:nvPicPr>
        <p:blipFill rotWithShape="1">
          <a:blip r:embed="rId9">
            <a:alphaModFix/>
          </a:blip>
          <a:srcRect b="0" l="0" r="0" t="0"/>
          <a:stretch/>
        </p:blipFill>
        <p:spPr>
          <a:xfrm>
            <a:off x="9667875" y="2556569"/>
            <a:ext cx="400050" cy="457200"/>
          </a:xfrm>
          <a:prstGeom prst="rect">
            <a:avLst/>
          </a:prstGeom>
          <a:noFill/>
          <a:ln>
            <a:noFill/>
          </a:ln>
        </p:spPr>
      </p:pic>
      <p:sp>
        <p:nvSpPr>
          <p:cNvPr id="107" name="Google Shape;107;p1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Tim Penyusun</a:t>
            </a:r>
            <a:endParaRPr/>
          </a:p>
        </p:txBody>
      </p:sp>
      <p:sp>
        <p:nvSpPr>
          <p:cNvPr id="108" name="Google Shape;108;p14"/>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12" name="Shape 112"/>
        <p:cNvGrpSpPr/>
        <p:nvPr/>
      </p:nvGrpSpPr>
      <p:grpSpPr>
        <a:xfrm>
          <a:off x="0" y="0"/>
          <a:ext cx="0" cy="0"/>
          <a:chOff x="0" y="0"/>
          <a:chExt cx="0" cy="0"/>
        </a:xfrm>
      </p:grpSpPr>
      <p:pic>
        <p:nvPicPr>
          <p:cNvPr descr="image.png" id="113" name="Google Shape;113;p15"/>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14" name="Google Shape;114;p15"/>
          <p:cNvSpPr txBox="1"/>
          <p:nvPr/>
        </p:nvSpPr>
        <p:spPr>
          <a:xfrm>
            <a:off x="866775" y="2962275"/>
            <a:ext cx="4943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Pendahuluan:</a:t>
            </a:r>
            <a:r>
              <a:rPr b="0" i="0" lang="en-US" sz="1350" u="none" cap="none" strike="noStrike">
                <a:solidFill>
                  <a:srgbClr val="A3A3A3"/>
                </a:solidFill>
                <a:latin typeface="Urbanist"/>
                <a:ea typeface="Urbanist"/>
                <a:cs typeface="Urbanist"/>
                <a:sym typeface="Urbanist"/>
              </a:rPr>
              <a:t> Latar belakang industri game dan tantangan developer.</a:t>
            </a:r>
            <a:endParaRPr/>
          </a:p>
        </p:txBody>
      </p:sp>
      <p:sp>
        <p:nvSpPr>
          <p:cNvPr id="115" name="Google Shape;115;p15"/>
          <p:cNvSpPr txBox="1"/>
          <p:nvPr/>
        </p:nvSpPr>
        <p:spPr>
          <a:xfrm>
            <a:off x="866775" y="3653730"/>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Metodologi:</a:t>
            </a:r>
            <a:r>
              <a:rPr b="0" i="0" lang="en-US" sz="1350" u="none" cap="none" strike="noStrike">
                <a:solidFill>
                  <a:srgbClr val="A3A3A3"/>
                </a:solidFill>
                <a:latin typeface="Urbanist"/>
                <a:ea typeface="Urbanist"/>
                <a:cs typeface="Urbanist"/>
                <a:sym typeface="Urbanist"/>
              </a:rPr>
              <a:t> Dataset, fitur, dan algoritma (MLP, XGBoost, RF).</a:t>
            </a:r>
            <a:endParaRPr/>
          </a:p>
        </p:txBody>
      </p:sp>
      <p:sp>
        <p:nvSpPr>
          <p:cNvPr id="116" name="Google Shape;116;p15"/>
          <p:cNvSpPr txBox="1"/>
          <p:nvPr/>
        </p:nvSpPr>
        <p:spPr>
          <a:xfrm>
            <a:off x="866775" y="4070895"/>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EDA:</a:t>
            </a:r>
            <a:r>
              <a:rPr b="0" i="0" lang="en-US" sz="1350" u="none" cap="none" strike="noStrike">
                <a:solidFill>
                  <a:srgbClr val="A3A3A3"/>
                </a:solidFill>
                <a:latin typeface="Urbanist"/>
                <a:ea typeface="Urbanist"/>
                <a:cs typeface="Urbanist"/>
                <a:sym typeface="Urbanist"/>
              </a:rPr>
              <a:t> Eksplorasi data, distribusi, dan tren pasar.</a:t>
            </a:r>
            <a:endParaRPr/>
          </a:p>
        </p:txBody>
      </p:sp>
      <p:sp>
        <p:nvSpPr>
          <p:cNvPr id="117" name="Google Shape;117;p15"/>
          <p:cNvSpPr txBox="1"/>
          <p:nvPr/>
        </p:nvSpPr>
        <p:spPr>
          <a:xfrm>
            <a:off x="866775" y="4488060"/>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Pemodelan:</a:t>
            </a:r>
            <a:r>
              <a:rPr b="0" i="0" lang="en-US" sz="1350" u="none" cap="none" strike="noStrike">
                <a:solidFill>
                  <a:srgbClr val="A3A3A3"/>
                </a:solidFill>
                <a:latin typeface="Urbanist"/>
                <a:ea typeface="Urbanist"/>
                <a:cs typeface="Urbanist"/>
                <a:sym typeface="Urbanist"/>
              </a:rPr>
              <a:t> Skenario Multi-Output Regression.</a:t>
            </a:r>
            <a:endParaRPr/>
          </a:p>
        </p:txBody>
      </p:sp>
      <p:sp>
        <p:nvSpPr>
          <p:cNvPr id="118" name="Google Shape;118;p15"/>
          <p:cNvSpPr txBox="1"/>
          <p:nvPr/>
        </p:nvSpPr>
        <p:spPr>
          <a:xfrm>
            <a:off x="6667500" y="3099345"/>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Hasil Eksperimen:</a:t>
            </a:r>
            <a:r>
              <a:rPr b="0" i="0" lang="en-US" sz="1350" u="none" cap="none" strike="noStrike">
                <a:solidFill>
                  <a:srgbClr val="A3A3A3"/>
                </a:solidFill>
                <a:latin typeface="Urbanist"/>
                <a:ea typeface="Urbanist"/>
                <a:cs typeface="Urbanist"/>
                <a:sym typeface="Urbanist"/>
              </a:rPr>
              <a:t> Evaluasi model dan perbandingan performa.</a:t>
            </a:r>
            <a:endParaRPr/>
          </a:p>
        </p:txBody>
      </p:sp>
      <p:sp>
        <p:nvSpPr>
          <p:cNvPr id="119" name="Google Shape;119;p15"/>
          <p:cNvSpPr txBox="1"/>
          <p:nvPr/>
        </p:nvSpPr>
        <p:spPr>
          <a:xfrm>
            <a:off x="6667500" y="3516510"/>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Feature Importance:</a:t>
            </a:r>
            <a:r>
              <a:rPr b="0" i="0" lang="en-US" sz="1350" u="none" cap="none" strike="noStrike">
                <a:solidFill>
                  <a:srgbClr val="A3A3A3"/>
                </a:solidFill>
                <a:latin typeface="Urbanist"/>
                <a:ea typeface="Urbanist"/>
                <a:cs typeface="Urbanist"/>
                <a:sym typeface="Urbanist"/>
              </a:rPr>
              <a:t> Faktor kunci kesuksesan game.</a:t>
            </a:r>
            <a:endParaRPr/>
          </a:p>
        </p:txBody>
      </p:sp>
      <p:sp>
        <p:nvSpPr>
          <p:cNvPr id="120" name="Google Shape;120;p15"/>
          <p:cNvSpPr txBox="1"/>
          <p:nvPr/>
        </p:nvSpPr>
        <p:spPr>
          <a:xfrm>
            <a:off x="6667500" y="3933676"/>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Rekomendasi Pintar:</a:t>
            </a:r>
            <a:r>
              <a:rPr b="0" i="0" lang="en-US" sz="1350" u="none" cap="none" strike="noStrike">
                <a:solidFill>
                  <a:srgbClr val="A3A3A3"/>
                </a:solidFill>
                <a:latin typeface="Urbanist"/>
                <a:ea typeface="Urbanist"/>
                <a:cs typeface="Urbanist"/>
                <a:sym typeface="Urbanist"/>
              </a:rPr>
              <a:t> Strategi harga dan genre.</a:t>
            </a:r>
            <a:endParaRPr/>
          </a:p>
        </p:txBody>
      </p:sp>
      <p:sp>
        <p:nvSpPr>
          <p:cNvPr id="121" name="Google Shape;121;p15"/>
          <p:cNvSpPr txBox="1"/>
          <p:nvPr/>
        </p:nvSpPr>
        <p:spPr>
          <a:xfrm>
            <a:off x="6667500" y="4350841"/>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Kesimpulan:</a:t>
            </a:r>
            <a:r>
              <a:rPr b="0" i="0" lang="en-US" sz="1350" u="none" cap="none" strike="noStrike">
                <a:solidFill>
                  <a:srgbClr val="A3A3A3"/>
                </a:solidFill>
                <a:latin typeface="Urbanist"/>
                <a:ea typeface="Urbanist"/>
                <a:cs typeface="Urbanist"/>
                <a:sym typeface="Urbanist"/>
              </a:rPr>
              <a:t> Implikasi bisnis dan teknis.</a:t>
            </a:r>
            <a:endParaRPr/>
          </a:p>
        </p:txBody>
      </p:sp>
      <p:sp>
        <p:nvSpPr>
          <p:cNvPr id="122" name="Google Shape;122;p15"/>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Agenda Presentasi</a:t>
            </a:r>
            <a:endParaRPr/>
          </a:p>
        </p:txBody>
      </p:sp>
      <p:sp>
        <p:nvSpPr>
          <p:cNvPr id="123" name="Google Shape;123;p15"/>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4" name="Google Shape;124;p15"/>
          <p:cNvPicPr preferRelativeResize="0"/>
          <p:nvPr/>
        </p:nvPicPr>
        <p:blipFill rotWithShape="1">
          <a:blip r:embed="rId4">
            <a:alphaModFix/>
          </a:blip>
          <a:srcRect b="0" l="0" r="0" t="0"/>
          <a:stretch/>
        </p:blipFill>
        <p:spPr>
          <a:xfrm>
            <a:off x="581025" y="3000375"/>
            <a:ext cx="85725" cy="142875"/>
          </a:xfrm>
          <a:prstGeom prst="rect">
            <a:avLst/>
          </a:prstGeom>
          <a:noFill/>
          <a:ln>
            <a:noFill/>
          </a:ln>
        </p:spPr>
      </p:pic>
      <p:pic>
        <p:nvPicPr>
          <p:cNvPr descr="image.png" id="125" name="Google Shape;125;p15"/>
          <p:cNvPicPr preferRelativeResize="0"/>
          <p:nvPr/>
        </p:nvPicPr>
        <p:blipFill rotWithShape="1">
          <a:blip r:embed="rId4">
            <a:alphaModFix/>
          </a:blip>
          <a:srcRect b="0" l="0" r="0" t="0"/>
          <a:stretch/>
        </p:blipFill>
        <p:spPr>
          <a:xfrm>
            <a:off x="581025" y="3691830"/>
            <a:ext cx="85725" cy="142875"/>
          </a:xfrm>
          <a:prstGeom prst="rect">
            <a:avLst/>
          </a:prstGeom>
          <a:noFill/>
          <a:ln>
            <a:noFill/>
          </a:ln>
        </p:spPr>
      </p:pic>
      <p:pic>
        <p:nvPicPr>
          <p:cNvPr descr="image.png" id="126" name="Google Shape;126;p15"/>
          <p:cNvPicPr preferRelativeResize="0"/>
          <p:nvPr/>
        </p:nvPicPr>
        <p:blipFill rotWithShape="1">
          <a:blip r:embed="rId4">
            <a:alphaModFix/>
          </a:blip>
          <a:srcRect b="0" l="0" r="0" t="0"/>
          <a:stretch/>
        </p:blipFill>
        <p:spPr>
          <a:xfrm>
            <a:off x="581025" y="4108995"/>
            <a:ext cx="85725" cy="142875"/>
          </a:xfrm>
          <a:prstGeom prst="rect">
            <a:avLst/>
          </a:prstGeom>
          <a:noFill/>
          <a:ln>
            <a:noFill/>
          </a:ln>
        </p:spPr>
      </p:pic>
      <p:pic>
        <p:nvPicPr>
          <p:cNvPr descr="image.png" id="127" name="Google Shape;127;p15"/>
          <p:cNvPicPr preferRelativeResize="0"/>
          <p:nvPr/>
        </p:nvPicPr>
        <p:blipFill rotWithShape="1">
          <a:blip r:embed="rId4">
            <a:alphaModFix/>
          </a:blip>
          <a:srcRect b="0" l="0" r="0" t="0"/>
          <a:stretch/>
        </p:blipFill>
        <p:spPr>
          <a:xfrm>
            <a:off x="581025" y="4526160"/>
            <a:ext cx="85725" cy="142875"/>
          </a:xfrm>
          <a:prstGeom prst="rect">
            <a:avLst/>
          </a:prstGeom>
          <a:noFill/>
          <a:ln>
            <a:noFill/>
          </a:ln>
        </p:spPr>
      </p:pic>
      <p:pic>
        <p:nvPicPr>
          <p:cNvPr descr="image.png" id="128" name="Google Shape;128;p15"/>
          <p:cNvPicPr preferRelativeResize="0"/>
          <p:nvPr/>
        </p:nvPicPr>
        <p:blipFill rotWithShape="1">
          <a:blip r:embed="rId4">
            <a:alphaModFix/>
          </a:blip>
          <a:srcRect b="0" l="0" r="0" t="0"/>
          <a:stretch/>
        </p:blipFill>
        <p:spPr>
          <a:xfrm>
            <a:off x="6381750" y="3137445"/>
            <a:ext cx="85725" cy="142875"/>
          </a:xfrm>
          <a:prstGeom prst="rect">
            <a:avLst/>
          </a:prstGeom>
          <a:noFill/>
          <a:ln>
            <a:noFill/>
          </a:ln>
        </p:spPr>
      </p:pic>
      <p:pic>
        <p:nvPicPr>
          <p:cNvPr descr="image.png" id="129" name="Google Shape;129;p15"/>
          <p:cNvPicPr preferRelativeResize="0"/>
          <p:nvPr/>
        </p:nvPicPr>
        <p:blipFill rotWithShape="1">
          <a:blip r:embed="rId4">
            <a:alphaModFix/>
          </a:blip>
          <a:srcRect b="0" l="0" r="0" t="0"/>
          <a:stretch/>
        </p:blipFill>
        <p:spPr>
          <a:xfrm>
            <a:off x="6381750" y="3554610"/>
            <a:ext cx="85725" cy="142875"/>
          </a:xfrm>
          <a:prstGeom prst="rect">
            <a:avLst/>
          </a:prstGeom>
          <a:noFill/>
          <a:ln>
            <a:noFill/>
          </a:ln>
        </p:spPr>
      </p:pic>
      <p:pic>
        <p:nvPicPr>
          <p:cNvPr descr="image.png" id="130" name="Google Shape;130;p15"/>
          <p:cNvPicPr preferRelativeResize="0"/>
          <p:nvPr/>
        </p:nvPicPr>
        <p:blipFill rotWithShape="1">
          <a:blip r:embed="rId4">
            <a:alphaModFix/>
          </a:blip>
          <a:srcRect b="0" l="0" r="0" t="0"/>
          <a:stretch/>
        </p:blipFill>
        <p:spPr>
          <a:xfrm>
            <a:off x="6381750" y="3971776"/>
            <a:ext cx="85725" cy="142875"/>
          </a:xfrm>
          <a:prstGeom prst="rect">
            <a:avLst/>
          </a:prstGeom>
          <a:noFill/>
          <a:ln>
            <a:noFill/>
          </a:ln>
        </p:spPr>
      </p:pic>
      <p:pic>
        <p:nvPicPr>
          <p:cNvPr descr="image.png" id="131" name="Google Shape;131;p15"/>
          <p:cNvPicPr preferRelativeResize="0"/>
          <p:nvPr/>
        </p:nvPicPr>
        <p:blipFill rotWithShape="1">
          <a:blip r:embed="rId4">
            <a:alphaModFix/>
          </a:blip>
          <a:srcRect b="0" l="0" r="0" t="0"/>
          <a:stretch/>
        </p:blipFill>
        <p:spPr>
          <a:xfrm>
            <a:off x="6381750" y="4388941"/>
            <a:ext cx="85725" cy="1428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35" name="Shape 135"/>
        <p:cNvGrpSpPr/>
        <p:nvPr/>
      </p:nvGrpSpPr>
      <p:grpSpPr>
        <a:xfrm>
          <a:off x="0" y="0"/>
          <a:ext cx="0" cy="0"/>
          <a:chOff x="0" y="0"/>
          <a:chExt cx="0" cy="0"/>
        </a:xfrm>
      </p:grpSpPr>
      <p:pic>
        <p:nvPicPr>
          <p:cNvPr descr="image.png" id="136" name="Google Shape;136;p16"/>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137" name="Google Shape;137;p16"/>
          <p:cNvSpPr txBox="1"/>
          <p:nvPr/>
        </p:nvSpPr>
        <p:spPr>
          <a:xfrm>
            <a:off x="962025" y="1584126"/>
            <a:ext cx="4590573"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Latar Belakang</a:t>
            </a:r>
            <a:endParaRPr/>
          </a:p>
        </p:txBody>
      </p:sp>
      <p:sp>
        <p:nvSpPr>
          <p:cNvPr id="138" name="Google Shape;138;p16"/>
          <p:cNvSpPr/>
          <p:nvPr/>
        </p:nvSpPr>
        <p:spPr>
          <a:xfrm>
            <a:off x="771525" y="1584126"/>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6"/>
          <p:cNvSpPr txBox="1"/>
          <p:nvPr/>
        </p:nvSpPr>
        <p:spPr>
          <a:xfrm>
            <a:off x="771525" y="2622351"/>
            <a:ext cx="4562475" cy="1371451"/>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Industri game berkembang sangat pesat dengan persaingan yang ketat. Kesuksesan tidak lagi hanya bergantung pada kualitas visual, tetapi dipengaruhi oleh banyak faktor kompleks seperti genre, harga, dan ulasan komunitas.</a:t>
            </a:r>
            <a:endParaRPr/>
          </a:p>
        </p:txBody>
      </p:sp>
      <p:sp>
        <p:nvSpPr>
          <p:cNvPr id="140" name="Google Shape;140;p16"/>
          <p:cNvSpPr txBox="1"/>
          <p:nvPr/>
        </p:nvSpPr>
        <p:spPr>
          <a:xfrm>
            <a:off x="771525" y="4336702"/>
            <a:ext cx="45624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Developer sering menghadapi risiko tinggi saat merilis game tanpa dukungan data yang kuat, yang dapat berujung pada kegagalan pasar.</a:t>
            </a:r>
            <a:endParaRPr/>
          </a:p>
        </p:txBody>
      </p:sp>
      <p:pic>
        <p:nvPicPr>
          <p:cNvPr descr="Berkas:Valorant Champions İstanbul 2022.jpg - Wikipedia bahasa ..." id="141" name="Google Shape;141;p16"/>
          <p:cNvPicPr preferRelativeResize="0"/>
          <p:nvPr/>
        </p:nvPicPr>
        <p:blipFill rotWithShape="1">
          <a:blip r:embed="rId4">
            <a:alphaModFix/>
          </a:blip>
          <a:srcRect b="0" l="337" r="337" t="0"/>
          <a:stretch/>
        </p:blipFill>
        <p:spPr>
          <a:xfrm>
            <a:off x="6096000" y="9525"/>
            <a:ext cx="6086475" cy="68579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45" name="Shape 145"/>
        <p:cNvGrpSpPr/>
        <p:nvPr/>
      </p:nvGrpSpPr>
      <p:grpSpPr>
        <a:xfrm>
          <a:off x="0" y="0"/>
          <a:ext cx="0" cy="0"/>
          <a:chOff x="0" y="0"/>
          <a:chExt cx="0" cy="0"/>
        </a:xfrm>
      </p:grpSpPr>
      <p:pic>
        <p:nvPicPr>
          <p:cNvPr descr="image.png" id="146" name="Google Shape;146;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7" name="Google Shape;147;p17"/>
          <p:cNvPicPr preferRelativeResize="0"/>
          <p:nvPr/>
        </p:nvPicPr>
        <p:blipFill rotWithShape="1">
          <a:blip r:embed="rId4">
            <a:alphaModFix/>
          </a:blip>
          <a:srcRect b="0" l="0" r="0" t="0"/>
          <a:stretch/>
        </p:blipFill>
        <p:spPr>
          <a:xfrm>
            <a:off x="581025" y="2426940"/>
            <a:ext cx="3486150" cy="2870745"/>
          </a:xfrm>
          <a:prstGeom prst="rect">
            <a:avLst/>
          </a:prstGeom>
          <a:noFill/>
          <a:ln>
            <a:noFill/>
          </a:ln>
        </p:spPr>
      </p:pic>
      <p:pic>
        <p:nvPicPr>
          <p:cNvPr descr="image.png" id="148" name="Google Shape;148;p17"/>
          <p:cNvPicPr preferRelativeResize="0"/>
          <p:nvPr/>
        </p:nvPicPr>
        <p:blipFill rotWithShape="1">
          <a:blip r:embed="rId5">
            <a:alphaModFix/>
          </a:blip>
          <a:srcRect b="0" l="0" r="0" t="0"/>
          <a:stretch/>
        </p:blipFill>
        <p:spPr>
          <a:xfrm>
            <a:off x="4352925" y="2426940"/>
            <a:ext cx="3486150" cy="2870745"/>
          </a:xfrm>
          <a:prstGeom prst="rect">
            <a:avLst/>
          </a:prstGeom>
          <a:noFill/>
          <a:ln>
            <a:noFill/>
          </a:ln>
        </p:spPr>
      </p:pic>
      <p:pic>
        <p:nvPicPr>
          <p:cNvPr descr="image.png" id="149" name="Google Shape;149;p17"/>
          <p:cNvPicPr preferRelativeResize="0"/>
          <p:nvPr/>
        </p:nvPicPr>
        <p:blipFill rotWithShape="1">
          <a:blip r:embed="rId6">
            <a:alphaModFix/>
          </a:blip>
          <a:srcRect b="0" l="0" r="0" t="0"/>
          <a:stretch/>
        </p:blipFill>
        <p:spPr>
          <a:xfrm>
            <a:off x="8124825" y="2426940"/>
            <a:ext cx="3486150" cy="2870745"/>
          </a:xfrm>
          <a:prstGeom prst="rect">
            <a:avLst/>
          </a:prstGeom>
          <a:noFill/>
          <a:ln>
            <a:noFill/>
          </a:ln>
        </p:spPr>
      </p:pic>
      <p:sp>
        <p:nvSpPr>
          <p:cNvPr id="150" name="Google Shape;150;p17"/>
          <p:cNvSpPr txBox="1"/>
          <p:nvPr/>
        </p:nvSpPr>
        <p:spPr>
          <a:xfrm>
            <a:off x="1675116" y="3465165"/>
            <a:ext cx="1297818"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Risiko Tinggi</a:t>
            </a:r>
            <a:endParaRPr/>
          </a:p>
        </p:txBody>
      </p:sp>
      <p:sp>
        <p:nvSpPr>
          <p:cNvPr id="151" name="Google Shape;151;p17"/>
          <p:cNvSpPr txBox="1"/>
          <p:nvPr/>
        </p:nvSpPr>
        <p:spPr>
          <a:xfrm>
            <a:off x="876300" y="4008090"/>
            <a:ext cx="28956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Kesalahan penentuan harga dan platform dapat berdampak fatal pada performa game baru.</a:t>
            </a:r>
            <a:endParaRPr/>
          </a:p>
        </p:txBody>
      </p:sp>
      <p:sp>
        <p:nvSpPr>
          <p:cNvPr id="152" name="Google Shape;152;p17"/>
          <p:cNvSpPr txBox="1"/>
          <p:nvPr/>
        </p:nvSpPr>
        <p:spPr>
          <a:xfrm>
            <a:off x="5053838" y="3465165"/>
            <a:ext cx="2084323"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Solusi Berbasis Data</a:t>
            </a:r>
            <a:endParaRPr/>
          </a:p>
        </p:txBody>
      </p:sp>
      <p:sp>
        <p:nvSpPr>
          <p:cNvPr id="153" name="Google Shape;153;p17"/>
          <p:cNvSpPr txBox="1"/>
          <p:nvPr/>
        </p:nvSpPr>
        <p:spPr>
          <a:xfrm>
            <a:off x="4648200" y="4008090"/>
            <a:ext cx="28956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Menggunakan Machine Learning untuk mengidentifikasi pola tersembunyi dari data historis game.</a:t>
            </a:r>
            <a:endParaRPr/>
          </a:p>
        </p:txBody>
      </p:sp>
      <p:sp>
        <p:nvSpPr>
          <p:cNvPr id="154" name="Google Shape;154;p17"/>
          <p:cNvSpPr txBox="1"/>
          <p:nvPr/>
        </p:nvSpPr>
        <p:spPr>
          <a:xfrm>
            <a:off x="9329086" y="3465165"/>
            <a:ext cx="1077478"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Prediksi AI</a:t>
            </a:r>
            <a:endParaRPr/>
          </a:p>
        </p:txBody>
      </p:sp>
      <p:sp>
        <p:nvSpPr>
          <p:cNvPr id="155" name="Google Shape;155;p17"/>
          <p:cNvSpPr txBox="1"/>
          <p:nvPr/>
        </p:nvSpPr>
        <p:spPr>
          <a:xfrm>
            <a:off x="8420100" y="4008090"/>
            <a:ext cx="28956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Menghasilkan estimasi penjualan dan popularitas yang akurat untuk mendukung keputusan strategis.</a:t>
            </a:r>
            <a:endParaRPr/>
          </a:p>
        </p:txBody>
      </p:sp>
      <p:pic>
        <p:nvPicPr>
          <p:cNvPr descr="image.png" id="156" name="Google Shape;156;p17"/>
          <p:cNvPicPr preferRelativeResize="0"/>
          <p:nvPr/>
        </p:nvPicPr>
        <p:blipFill rotWithShape="1">
          <a:blip r:embed="rId7">
            <a:alphaModFix/>
          </a:blip>
          <a:srcRect b="0" l="0" r="0" t="0"/>
          <a:stretch/>
        </p:blipFill>
        <p:spPr>
          <a:xfrm>
            <a:off x="2095500" y="2760315"/>
            <a:ext cx="457200" cy="457200"/>
          </a:xfrm>
          <a:prstGeom prst="rect">
            <a:avLst/>
          </a:prstGeom>
          <a:noFill/>
          <a:ln>
            <a:noFill/>
          </a:ln>
        </p:spPr>
      </p:pic>
      <p:pic>
        <p:nvPicPr>
          <p:cNvPr descr="image.png" id="157" name="Google Shape;157;p17"/>
          <p:cNvPicPr preferRelativeResize="0"/>
          <p:nvPr/>
        </p:nvPicPr>
        <p:blipFill rotWithShape="1">
          <a:blip r:embed="rId8">
            <a:alphaModFix/>
          </a:blip>
          <a:srcRect b="0" l="0" r="0" t="0"/>
          <a:stretch/>
        </p:blipFill>
        <p:spPr>
          <a:xfrm>
            <a:off x="5867400" y="2760315"/>
            <a:ext cx="457200" cy="457200"/>
          </a:xfrm>
          <a:prstGeom prst="rect">
            <a:avLst/>
          </a:prstGeom>
          <a:noFill/>
          <a:ln>
            <a:noFill/>
          </a:ln>
        </p:spPr>
      </p:pic>
      <p:pic>
        <p:nvPicPr>
          <p:cNvPr descr="image.png" id="158" name="Google Shape;158;p17"/>
          <p:cNvPicPr preferRelativeResize="0"/>
          <p:nvPr/>
        </p:nvPicPr>
        <p:blipFill rotWithShape="1">
          <a:blip r:embed="rId9">
            <a:alphaModFix/>
          </a:blip>
          <a:srcRect b="0" l="0" r="0" t="0"/>
          <a:stretch/>
        </p:blipFill>
        <p:spPr>
          <a:xfrm>
            <a:off x="9582150" y="2760315"/>
            <a:ext cx="571500" cy="457200"/>
          </a:xfrm>
          <a:prstGeom prst="rect">
            <a:avLst/>
          </a:prstGeom>
          <a:noFill/>
          <a:ln>
            <a:noFill/>
          </a:ln>
        </p:spPr>
      </p:pic>
      <p:sp>
        <p:nvSpPr>
          <p:cNvPr id="159" name="Google Shape;159;p17"/>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Rumusan Masalah &amp; Solusi</a:t>
            </a:r>
            <a:endParaRPr/>
          </a:p>
        </p:txBody>
      </p:sp>
      <p:sp>
        <p:nvSpPr>
          <p:cNvPr id="160" name="Google Shape;160;p17"/>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64" name="Shape 164"/>
        <p:cNvGrpSpPr/>
        <p:nvPr/>
      </p:nvGrpSpPr>
      <p:grpSpPr>
        <a:xfrm>
          <a:off x="0" y="0"/>
          <a:ext cx="0" cy="0"/>
          <a:chOff x="0" y="0"/>
          <a:chExt cx="0" cy="0"/>
        </a:xfrm>
      </p:grpSpPr>
      <p:pic>
        <p:nvPicPr>
          <p:cNvPr descr="image.png" id="165" name="Google Shape;165;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AI,Artificial Intelligence concept,Circuit board (Disediakan oleh Getty Images)" id="166" name="Google Shape;166;p18"/>
          <p:cNvPicPr preferRelativeResize="0"/>
          <p:nvPr/>
        </p:nvPicPr>
        <p:blipFill rotWithShape="1">
          <a:blip r:embed="rId4">
            <a:alphaModFix/>
          </a:blip>
          <a:srcRect b="0" l="5884" r="5884" t="0"/>
          <a:stretch/>
        </p:blipFill>
        <p:spPr>
          <a:xfrm>
            <a:off x="6381750" y="2195512"/>
            <a:ext cx="5229225" cy="3333750"/>
          </a:xfrm>
          <a:prstGeom prst="rect">
            <a:avLst/>
          </a:prstGeom>
          <a:noFill/>
          <a:ln>
            <a:noFill/>
          </a:ln>
        </p:spPr>
      </p:pic>
      <p:sp>
        <p:nvSpPr>
          <p:cNvPr id="167" name="Google Shape;167;p18"/>
          <p:cNvSpPr txBox="1"/>
          <p:nvPr/>
        </p:nvSpPr>
        <p:spPr>
          <a:xfrm>
            <a:off x="581025" y="2433637"/>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Tujuan Utama</a:t>
            </a:r>
            <a:endParaRPr/>
          </a:p>
        </p:txBody>
      </p:sp>
      <p:sp>
        <p:nvSpPr>
          <p:cNvPr id="168" name="Google Shape;168;p18"/>
          <p:cNvSpPr txBox="1"/>
          <p:nvPr/>
        </p:nvSpPr>
        <p:spPr>
          <a:xfrm>
            <a:off x="581025" y="2881312"/>
            <a:ext cx="5229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Membangun sistem prediktif berbasis AI untuk mengestimasi kesuksesan game baru menggunakan dataset Steam 2025.</a:t>
            </a:r>
            <a:endParaRPr/>
          </a:p>
        </p:txBody>
      </p:sp>
      <p:sp>
        <p:nvSpPr>
          <p:cNvPr id="169" name="Google Shape;169;p18"/>
          <p:cNvSpPr txBox="1"/>
          <p:nvPr/>
        </p:nvSpPr>
        <p:spPr>
          <a:xfrm>
            <a:off x="581025" y="3601342"/>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Luaran (Output)</a:t>
            </a:r>
            <a:endParaRPr/>
          </a:p>
        </p:txBody>
      </p:sp>
      <p:pic>
        <p:nvPicPr>
          <p:cNvPr descr="image.png" id="170" name="Google Shape;170;p18"/>
          <p:cNvPicPr preferRelativeResize="0"/>
          <p:nvPr/>
        </p:nvPicPr>
        <p:blipFill rotWithShape="1">
          <a:blip r:embed="rId5">
            <a:alphaModFix/>
          </a:blip>
          <a:srcRect b="0" l="0" r="0" t="0"/>
          <a:stretch/>
        </p:blipFill>
        <p:spPr>
          <a:xfrm>
            <a:off x="6391275" y="2205037"/>
            <a:ext cx="1066800" cy="180975"/>
          </a:xfrm>
          <a:prstGeom prst="rect">
            <a:avLst/>
          </a:prstGeom>
          <a:noFill/>
          <a:ln>
            <a:noFill/>
          </a:ln>
        </p:spPr>
      </p:pic>
      <p:sp>
        <p:nvSpPr>
          <p:cNvPr id="171" name="Google Shape;171;p18"/>
          <p:cNvSpPr txBox="1"/>
          <p:nvPr/>
        </p:nvSpPr>
        <p:spPr>
          <a:xfrm>
            <a:off x="866775" y="4029967"/>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Skor popularitas &amp; estimasi jumlah pemain.</a:t>
            </a:r>
            <a:endParaRPr/>
          </a:p>
        </p:txBody>
      </p:sp>
      <p:sp>
        <p:nvSpPr>
          <p:cNvPr id="172" name="Google Shape;172;p18"/>
          <p:cNvSpPr txBox="1"/>
          <p:nvPr/>
        </p:nvSpPr>
        <p:spPr>
          <a:xfrm>
            <a:off x="866775" y="4447133"/>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Insight bisnis untuk strategi pemasaran.</a:t>
            </a:r>
            <a:endParaRPr/>
          </a:p>
        </p:txBody>
      </p:sp>
      <p:sp>
        <p:nvSpPr>
          <p:cNvPr id="173" name="Google Shape;173;p18"/>
          <p:cNvSpPr txBox="1"/>
          <p:nvPr/>
        </p:nvSpPr>
        <p:spPr>
          <a:xfrm>
            <a:off x="866775" y="4864298"/>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Sistem pendukung keputusan bagi developer.</a:t>
            </a:r>
            <a:endParaRPr/>
          </a:p>
        </p:txBody>
      </p:sp>
      <p:sp>
        <p:nvSpPr>
          <p:cNvPr id="174" name="Google Shape;174;p18"/>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Ide Project Secara Umum</a:t>
            </a:r>
            <a:endParaRPr/>
          </a:p>
        </p:txBody>
      </p:sp>
      <p:sp>
        <p:nvSpPr>
          <p:cNvPr id="175" name="Google Shape;175;p18"/>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76" name="Google Shape;176;p18"/>
          <p:cNvPicPr preferRelativeResize="0"/>
          <p:nvPr/>
        </p:nvPicPr>
        <p:blipFill rotWithShape="1">
          <a:blip r:embed="rId6">
            <a:alphaModFix/>
          </a:blip>
          <a:srcRect b="0" l="0" r="0" t="0"/>
          <a:stretch/>
        </p:blipFill>
        <p:spPr>
          <a:xfrm>
            <a:off x="581025" y="4068067"/>
            <a:ext cx="85725" cy="142875"/>
          </a:xfrm>
          <a:prstGeom prst="rect">
            <a:avLst/>
          </a:prstGeom>
          <a:noFill/>
          <a:ln>
            <a:noFill/>
          </a:ln>
        </p:spPr>
      </p:pic>
      <p:pic>
        <p:nvPicPr>
          <p:cNvPr descr="image.png" id="177" name="Google Shape;177;p18"/>
          <p:cNvPicPr preferRelativeResize="0"/>
          <p:nvPr/>
        </p:nvPicPr>
        <p:blipFill rotWithShape="1">
          <a:blip r:embed="rId6">
            <a:alphaModFix/>
          </a:blip>
          <a:srcRect b="0" l="0" r="0" t="0"/>
          <a:stretch/>
        </p:blipFill>
        <p:spPr>
          <a:xfrm>
            <a:off x="581025" y="4485233"/>
            <a:ext cx="85725" cy="142875"/>
          </a:xfrm>
          <a:prstGeom prst="rect">
            <a:avLst/>
          </a:prstGeom>
          <a:noFill/>
          <a:ln>
            <a:noFill/>
          </a:ln>
        </p:spPr>
      </p:pic>
      <p:pic>
        <p:nvPicPr>
          <p:cNvPr descr="image.png" id="178" name="Google Shape;178;p18"/>
          <p:cNvPicPr preferRelativeResize="0"/>
          <p:nvPr/>
        </p:nvPicPr>
        <p:blipFill rotWithShape="1">
          <a:blip r:embed="rId6">
            <a:alphaModFix/>
          </a:blip>
          <a:srcRect b="0" l="0" r="0" t="0"/>
          <a:stretch/>
        </p:blipFill>
        <p:spPr>
          <a:xfrm>
            <a:off x="581025" y="4902398"/>
            <a:ext cx="85725" cy="1428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182" name="Shape 182"/>
        <p:cNvGrpSpPr/>
        <p:nvPr/>
      </p:nvGrpSpPr>
      <p:grpSpPr>
        <a:xfrm>
          <a:off x="0" y="0"/>
          <a:ext cx="0" cy="0"/>
          <a:chOff x="0" y="0"/>
          <a:chExt cx="0" cy="0"/>
        </a:xfrm>
      </p:grpSpPr>
      <p:pic>
        <p:nvPicPr>
          <p:cNvPr descr="image.png" id="183" name="Google Shape;183;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84" name="Google Shape;184;p19"/>
          <p:cNvPicPr preferRelativeResize="0"/>
          <p:nvPr/>
        </p:nvPicPr>
        <p:blipFill rotWithShape="1">
          <a:blip r:embed="rId4">
            <a:alphaModFix/>
          </a:blip>
          <a:srcRect b="0" l="0" r="0" t="0"/>
          <a:stretch/>
        </p:blipFill>
        <p:spPr>
          <a:xfrm>
            <a:off x="581025" y="2564159"/>
            <a:ext cx="3486150" cy="2596455"/>
          </a:xfrm>
          <a:prstGeom prst="rect">
            <a:avLst/>
          </a:prstGeom>
          <a:noFill/>
          <a:ln>
            <a:noFill/>
          </a:ln>
        </p:spPr>
      </p:pic>
      <p:pic>
        <p:nvPicPr>
          <p:cNvPr descr="image.png" id="185" name="Google Shape;185;p19"/>
          <p:cNvPicPr preferRelativeResize="0"/>
          <p:nvPr/>
        </p:nvPicPr>
        <p:blipFill rotWithShape="1">
          <a:blip r:embed="rId5">
            <a:alphaModFix/>
          </a:blip>
          <a:srcRect b="0" l="0" r="0" t="0"/>
          <a:stretch/>
        </p:blipFill>
        <p:spPr>
          <a:xfrm>
            <a:off x="4352925" y="2564159"/>
            <a:ext cx="3486150" cy="2596455"/>
          </a:xfrm>
          <a:prstGeom prst="rect">
            <a:avLst/>
          </a:prstGeom>
          <a:noFill/>
          <a:ln>
            <a:noFill/>
          </a:ln>
        </p:spPr>
      </p:pic>
      <p:pic>
        <p:nvPicPr>
          <p:cNvPr descr="image.png" id="186" name="Google Shape;186;p19"/>
          <p:cNvPicPr preferRelativeResize="0"/>
          <p:nvPr/>
        </p:nvPicPr>
        <p:blipFill rotWithShape="1">
          <a:blip r:embed="rId6">
            <a:alphaModFix/>
          </a:blip>
          <a:srcRect b="0" l="0" r="0" t="0"/>
          <a:stretch/>
        </p:blipFill>
        <p:spPr>
          <a:xfrm>
            <a:off x="8124825" y="2564159"/>
            <a:ext cx="3486150" cy="2596455"/>
          </a:xfrm>
          <a:prstGeom prst="rect">
            <a:avLst/>
          </a:prstGeom>
          <a:noFill/>
          <a:ln>
            <a:noFill/>
          </a:ln>
        </p:spPr>
      </p:pic>
      <p:sp>
        <p:nvSpPr>
          <p:cNvPr id="187" name="Google Shape;187;p19"/>
          <p:cNvSpPr txBox="1"/>
          <p:nvPr/>
        </p:nvSpPr>
        <p:spPr>
          <a:xfrm>
            <a:off x="2000938" y="3602384"/>
            <a:ext cx="64617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Harga</a:t>
            </a:r>
            <a:endParaRPr/>
          </a:p>
        </p:txBody>
      </p:sp>
      <p:sp>
        <p:nvSpPr>
          <p:cNvPr id="188" name="Google Shape;188;p19"/>
          <p:cNvSpPr txBox="1"/>
          <p:nvPr/>
        </p:nvSpPr>
        <p:spPr>
          <a:xfrm>
            <a:off x="876300" y="4145309"/>
            <a:ext cx="2895600"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Pengaruh harga jual dan diskon terhadap volume pemain.</a:t>
            </a:r>
            <a:endParaRPr/>
          </a:p>
        </p:txBody>
      </p:sp>
      <p:sp>
        <p:nvSpPr>
          <p:cNvPr id="189" name="Google Shape;189;p19"/>
          <p:cNvSpPr txBox="1"/>
          <p:nvPr/>
        </p:nvSpPr>
        <p:spPr>
          <a:xfrm>
            <a:off x="5650010" y="3602384"/>
            <a:ext cx="891830"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Reputasi</a:t>
            </a:r>
            <a:endParaRPr/>
          </a:p>
        </p:txBody>
      </p:sp>
      <p:sp>
        <p:nvSpPr>
          <p:cNvPr id="190" name="Google Shape;190;p19"/>
          <p:cNvSpPr txBox="1"/>
          <p:nvPr/>
        </p:nvSpPr>
        <p:spPr>
          <a:xfrm>
            <a:off x="4648200" y="4145309"/>
            <a:ext cx="2895600"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Rating, jumlah review, dan reputasi developer.</a:t>
            </a:r>
            <a:endParaRPr/>
          </a:p>
        </p:txBody>
      </p:sp>
      <p:sp>
        <p:nvSpPr>
          <p:cNvPr id="191" name="Google Shape;191;p19"/>
          <p:cNvSpPr txBox="1"/>
          <p:nvPr/>
        </p:nvSpPr>
        <p:spPr>
          <a:xfrm>
            <a:off x="9151560" y="3602384"/>
            <a:ext cx="1432679"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Atribut Game</a:t>
            </a:r>
            <a:endParaRPr/>
          </a:p>
        </p:txBody>
      </p:sp>
      <p:sp>
        <p:nvSpPr>
          <p:cNvPr id="192" name="Google Shape;192;p19"/>
          <p:cNvSpPr txBox="1"/>
          <p:nvPr/>
        </p:nvSpPr>
        <p:spPr>
          <a:xfrm>
            <a:off x="8420100" y="4145309"/>
            <a:ext cx="2895600" cy="54858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Genre, Tags, dan ketersediaan Platform (OS).</a:t>
            </a:r>
            <a:endParaRPr/>
          </a:p>
        </p:txBody>
      </p:sp>
      <p:pic>
        <p:nvPicPr>
          <p:cNvPr descr="image.png" id="193" name="Google Shape;193;p19"/>
          <p:cNvPicPr preferRelativeResize="0"/>
          <p:nvPr/>
        </p:nvPicPr>
        <p:blipFill rotWithShape="1">
          <a:blip r:embed="rId7">
            <a:alphaModFix/>
          </a:blip>
          <a:srcRect b="0" l="0" r="0" t="0"/>
          <a:stretch/>
        </p:blipFill>
        <p:spPr>
          <a:xfrm>
            <a:off x="2124075" y="2897534"/>
            <a:ext cx="400050" cy="457200"/>
          </a:xfrm>
          <a:prstGeom prst="rect">
            <a:avLst/>
          </a:prstGeom>
          <a:noFill/>
          <a:ln>
            <a:noFill/>
          </a:ln>
        </p:spPr>
      </p:pic>
      <p:pic>
        <p:nvPicPr>
          <p:cNvPr descr="image.png" id="194" name="Google Shape;194;p19"/>
          <p:cNvPicPr preferRelativeResize="0"/>
          <p:nvPr/>
        </p:nvPicPr>
        <p:blipFill rotWithShape="1">
          <a:blip r:embed="rId8">
            <a:alphaModFix/>
          </a:blip>
          <a:srcRect b="0" l="0" r="0" t="0"/>
          <a:stretch/>
        </p:blipFill>
        <p:spPr>
          <a:xfrm>
            <a:off x="5838825" y="2897534"/>
            <a:ext cx="514350" cy="457200"/>
          </a:xfrm>
          <a:prstGeom prst="rect">
            <a:avLst/>
          </a:prstGeom>
          <a:noFill/>
          <a:ln>
            <a:noFill/>
          </a:ln>
        </p:spPr>
      </p:pic>
      <p:pic>
        <p:nvPicPr>
          <p:cNvPr descr="image.png" id="195" name="Google Shape;195;p19"/>
          <p:cNvPicPr preferRelativeResize="0"/>
          <p:nvPr/>
        </p:nvPicPr>
        <p:blipFill rotWithShape="1">
          <a:blip r:embed="rId9">
            <a:alphaModFix/>
          </a:blip>
          <a:srcRect b="0" l="0" r="0" t="0"/>
          <a:stretch/>
        </p:blipFill>
        <p:spPr>
          <a:xfrm>
            <a:off x="9582150" y="2897534"/>
            <a:ext cx="571500" cy="457200"/>
          </a:xfrm>
          <a:prstGeom prst="rect">
            <a:avLst/>
          </a:prstGeom>
          <a:noFill/>
          <a:ln>
            <a:noFill/>
          </a:ln>
        </p:spPr>
      </p:pic>
      <p:sp>
        <p:nvSpPr>
          <p:cNvPr id="196" name="Google Shape;196;p19"/>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Variabel &amp; Fitur Prediksi</a:t>
            </a:r>
            <a:endParaRPr/>
          </a:p>
        </p:txBody>
      </p:sp>
      <p:sp>
        <p:nvSpPr>
          <p:cNvPr id="197" name="Google Shape;197;p19"/>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01" name="Shape 201"/>
        <p:cNvGrpSpPr/>
        <p:nvPr/>
      </p:nvGrpSpPr>
      <p:grpSpPr>
        <a:xfrm>
          <a:off x="0" y="0"/>
          <a:ext cx="0" cy="0"/>
          <a:chOff x="0" y="0"/>
          <a:chExt cx="0" cy="0"/>
        </a:xfrm>
      </p:grpSpPr>
      <p:pic>
        <p:nvPicPr>
          <p:cNvPr descr="image.png" id="202" name="Google Shape;202;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03" name="Google Shape;203;p20"/>
          <p:cNvPicPr preferRelativeResize="0"/>
          <p:nvPr/>
        </p:nvPicPr>
        <p:blipFill rotWithShape="1">
          <a:blip r:embed="rId4">
            <a:alphaModFix/>
          </a:blip>
          <a:srcRect b="0" l="0" r="0" t="0"/>
          <a:stretch/>
        </p:blipFill>
        <p:spPr>
          <a:xfrm>
            <a:off x="581025" y="4142333"/>
            <a:ext cx="11029950" cy="1483965"/>
          </a:xfrm>
          <a:prstGeom prst="rect">
            <a:avLst/>
          </a:prstGeom>
          <a:noFill/>
          <a:ln>
            <a:noFill/>
          </a:ln>
        </p:spPr>
      </p:pic>
      <p:pic>
        <p:nvPicPr>
          <p:cNvPr descr="image.png" id="204" name="Google Shape;204;p20"/>
          <p:cNvPicPr preferRelativeResize="0"/>
          <p:nvPr/>
        </p:nvPicPr>
        <p:blipFill rotWithShape="1">
          <a:blip r:embed="rId5">
            <a:alphaModFix/>
          </a:blip>
          <a:srcRect b="0" l="0" r="0" t="0"/>
          <a:stretch/>
        </p:blipFill>
        <p:spPr>
          <a:xfrm>
            <a:off x="581025" y="2098327"/>
            <a:ext cx="5229225" cy="1758255"/>
          </a:xfrm>
          <a:prstGeom prst="rect">
            <a:avLst/>
          </a:prstGeom>
          <a:noFill/>
          <a:ln>
            <a:noFill/>
          </a:ln>
        </p:spPr>
      </p:pic>
      <p:pic>
        <p:nvPicPr>
          <p:cNvPr descr="image.png" id="205" name="Google Shape;205;p20"/>
          <p:cNvPicPr preferRelativeResize="0"/>
          <p:nvPr/>
        </p:nvPicPr>
        <p:blipFill rotWithShape="1">
          <a:blip r:embed="rId6">
            <a:alphaModFix/>
          </a:blip>
          <a:srcRect b="0" l="0" r="0" t="0"/>
          <a:stretch/>
        </p:blipFill>
        <p:spPr>
          <a:xfrm>
            <a:off x="6381750" y="2098327"/>
            <a:ext cx="5229225" cy="1758255"/>
          </a:xfrm>
          <a:prstGeom prst="rect">
            <a:avLst/>
          </a:prstGeom>
          <a:noFill/>
          <a:ln>
            <a:noFill/>
          </a:ln>
        </p:spPr>
      </p:pic>
      <p:sp>
        <p:nvSpPr>
          <p:cNvPr id="206" name="Google Shape;206;p20"/>
          <p:cNvSpPr txBox="1"/>
          <p:nvPr/>
        </p:nvSpPr>
        <p:spPr>
          <a:xfrm>
            <a:off x="615315" y="4437608"/>
            <a:ext cx="10961370" cy="276225"/>
          </a:xfrm>
          <a:prstGeom prst="rect">
            <a:avLst/>
          </a:prstGeom>
          <a:noFill/>
          <a:ln>
            <a:noFill/>
          </a:ln>
        </p:spPr>
        <p:txBody>
          <a:bodyPr anchorCtr="0" anchor="t" bIns="0" lIns="224125"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Neural Network (MLP)</a:t>
            </a:r>
            <a:endParaRPr/>
          </a:p>
        </p:txBody>
      </p:sp>
      <p:sp>
        <p:nvSpPr>
          <p:cNvPr id="207" name="Google Shape;207;p20"/>
          <p:cNvSpPr txBox="1"/>
          <p:nvPr/>
        </p:nvSpPr>
        <p:spPr>
          <a:xfrm>
            <a:off x="876300" y="4885283"/>
            <a:ext cx="104394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Pendekatan Deep Learning pada data tabular untuk menangkap pola interaksi fitur yang sangat kompleks.</a:t>
            </a:r>
            <a:endParaRPr/>
          </a:p>
        </p:txBody>
      </p:sp>
      <p:sp>
        <p:nvSpPr>
          <p:cNvPr id="208" name="Google Shape;208;p20"/>
          <p:cNvSpPr txBox="1"/>
          <p:nvPr/>
        </p:nvSpPr>
        <p:spPr>
          <a:xfrm>
            <a:off x="876300" y="2393602"/>
            <a:ext cx="4870608" cy="276225"/>
          </a:xfrm>
          <a:prstGeom prst="rect">
            <a:avLst/>
          </a:prstGeom>
          <a:noFill/>
          <a:ln>
            <a:noFill/>
          </a:ln>
        </p:spPr>
        <p:txBody>
          <a:bodyPr anchorCtr="0" anchor="t" bIns="0" lIns="19555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Random Forest</a:t>
            </a:r>
            <a:endParaRPr/>
          </a:p>
        </p:txBody>
      </p:sp>
      <p:sp>
        <p:nvSpPr>
          <p:cNvPr id="209" name="Google Shape;209;p20"/>
          <p:cNvSpPr txBox="1"/>
          <p:nvPr/>
        </p:nvSpPr>
        <p:spPr>
          <a:xfrm>
            <a:off x="876300" y="2841277"/>
            <a:ext cx="46386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Digunakan untuk menangani data non-linear dengan variabilitas tinggi dan mengurangi overfitting melalui bagging.</a:t>
            </a:r>
            <a:endParaRPr/>
          </a:p>
        </p:txBody>
      </p:sp>
      <p:sp>
        <p:nvSpPr>
          <p:cNvPr id="210" name="Google Shape;210;p20"/>
          <p:cNvSpPr txBox="1"/>
          <p:nvPr/>
        </p:nvSpPr>
        <p:spPr>
          <a:xfrm>
            <a:off x="6677025" y="2393602"/>
            <a:ext cx="4870608" cy="276225"/>
          </a:xfrm>
          <a:prstGeom prst="rect">
            <a:avLst/>
          </a:prstGeom>
          <a:noFill/>
          <a:ln>
            <a:noFill/>
          </a:ln>
        </p:spPr>
        <p:txBody>
          <a:bodyPr anchorCtr="0" anchor="t" bIns="0" lIns="19555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XGBoost</a:t>
            </a:r>
            <a:endParaRPr/>
          </a:p>
        </p:txBody>
      </p:sp>
      <p:sp>
        <p:nvSpPr>
          <p:cNvPr id="211" name="Google Shape;211;p20"/>
          <p:cNvSpPr txBox="1"/>
          <p:nvPr/>
        </p:nvSpPr>
        <p:spPr>
          <a:xfrm>
            <a:off x="6677025" y="2841277"/>
            <a:ext cx="46386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Algoritma Gradient Boosting yang efisien untuk meningkatkan akurasi prediksi melalui metode ensemble.</a:t>
            </a:r>
            <a:endParaRPr/>
          </a:p>
        </p:txBody>
      </p:sp>
      <p:pic>
        <p:nvPicPr>
          <p:cNvPr descr="image.png" id="212" name="Google Shape;212;p20"/>
          <p:cNvPicPr preferRelativeResize="0"/>
          <p:nvPr/>
        </p:nvPicPr>
        <p:blipFill rotWithShape="1">
          <a:blip r:embed="rId7">
            <a:alphaModFix/>
          </a:blip>
          <a:srcRect b="0" l="0" r="0" t="0"/>
          <a:stretch/>
        </p:blipFill>
        <p:spPr>
          <a:xfrm>
            <a:off x="4865042" y="4456658"/>
            <a:ext cx="224135" cy="228600"/>
          </a:xfrm>
          <a:prstGeom prst="rect">
            <a:avLst/>
          </a:prstGeom>
          <a:noFill/>
          <a:ln>
            <a:noFill/>
          </a:ln>
        </p:spPr>
      </p:pic>
      <p:pic>
        <p:nvPicPr>
          <p:cNvPr descr="image.png" id="213" name="Google Shape;213;p20"/>
          <p:cNvPicPr preferRelativeResize="0"/>
          <p:nvPr/>
        </p:nvPicPr>
        <p:blipFill rotWithShape="1">
          <a:blip r:embed="rId8">
            <a:alphaModFix/>
          </a:blip>
          <a:srcRect b="0" l="0" r="0" t="0"/>
          <a:stretch/>
        </p:blipFill>
        <p:spPr>
          <a:xfrm>
            <a:off x="876300" y="2412652"/>
            <a:ext cx="195560" cy="228600"/>
          </a:xfrm>
          <a:prstGeom prst="rect">
            <a:avLst/>
          </a:prstGeom>
          <a:noFill/>
          <a:ln>
            <a:noFill/>
          </a:ln>
        </p:spPr>
      </p:pic>
      <p:pic>
        <p:nvPicPr>
          <p:cNvPr descr="image.png" id="214" name="Google Shape;214;p20"/>
          <p:cNvPicPr preferRelativeResize="0"/>
          <p:nvPr/>
        </p:nvPicPr>
        <p:blipFill rotWithShape="1">
          <a:blip r:embed="rId9">
            <a:alphaModFix/>
          </a:blip>
          <a:srcRect b="0" l="0" r="0" t="0"/>
          <a:stretch/>
        </p:blipFill>
        <p:spPr>
          <a:xfrm>
            <a:off x="6677025" y="2412652"/>
            <a:ext cx="195560" cy="228600"/>
          </a:xfrm>
          <a:prstGeom prst="rect">
            <a:avLst/>
          </a:prstGeom>
          <a:noFill/>
          <a:ln>
            <a:noFill/>
          </a:ln>
        </p:spPr>
      </p:pic>
      <p:sp>
        <p:nvSpPr>
          <p:cNvPr id="215" name="Google Shape;215;p20"/>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Metodologi Algoritma</a:t>
            </a:r>
            <a:endParaRPr/>
          </a:p>
        </p:txBody>
      </p:sp>
      <p:sp>
        <p:nvSpPr>
          <p:cNvPr id="216" name="Google Shape;216;p20"/>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20" name="Shape 220"/>
        <p:cNvGrpSpPr/>
        <p:nvPr/>
      </p:nvGrpSpPr>
      <p:grpSpPr>
        <a:xfrm>
          <a:off x="0" y="0"/>
          <a:ext cx="0" cy="0"/>
          <a:chOff x="0" y="0"/>
          <a:chExt cx="0" cy="0"/>
        </a:xfrm>
      </p:grpSpPr>
      <p:pic>
        <p:nvPicPr>
          <p:cNvPr descr="image.png" id="221" name="Google Shape;221;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2" name="Google Shape;222;p21"/>
          <p:cNvPicPr preferRelativeResize="0"/>
          <p:nvPr/>
        </p:nvPicPr>
        <p:blipFill rotWithShape="1">
          <a:blip r:embed="rId4">
            <a:alphaModFix/>
          </a:blip>
          <a:srcRect b="0" l="0" r="0" t="0"/>
          <a:stretch/>
        </p:blipFill>
        <p:spPr>
          <a:xfrm>
            <a:off x="6846093" y="2433637"/>
            <a:ext cx="2857500" cy="2857500"/>
          </a:xfrm>
          <a:prstGeom prst="rect">
            <a:avLst/>
          </a:prstGeom>
          <a:noFill/>
          <a:ln>
            <a:noFill/>
          </a:ln>
        </p:spPr>
      </p:pic>
      <p:sp>
        <p:nvSpPr>
          <p:cNvPr id="223" name="Google Shape;223;p21"/>
          <p:cNvSpPr txBox="1"/>
          <p:nvPr/>
        </p:nvSpPr>
        <p:spPr>
          <a:xfrm>
            <a:off x="581025" y="2918519"/>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Paid vs Free Games</a:t>
            </a:r>
            <a:endParaRPr/>
          </a:p>
        </p:txBody>
      </p:sp>
      <p:sp>
        <p:nvSpPr>
          <p:cNvPr id="224" name="Google Shape;224;p21"/>
          <p:cNvSpPr txBox="1"/>
          <p:nvPr/>
        </p:nvSpPr>
        <p:spPr>
          <a:xfrm>
            <a:off x="581025" y="3366194"/>
            <a:ext cx="52292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Sekitar </a:t>
            </a:r>
            <a:r>
              <a:rPr b="1" i="0" lang="en-US" sz="1350" u="none" cap="none" strike="noStrike">
                <a:solidFill>
                  <a:srgbClr val="A3A3A3"/>
                </a:solidFill>
                <a:latin typeface="Urbanist"/>
                <a:ea typeface="Urbanist"/>
                <a:cs typeface="Urbanist"/>
                <a:sym typeface="Urbanist"/>
              </a:rPr>
              <a:t>80%</a:t>
            </a:r>
            <a:r>
              <a:rPr b="0" i="0" lang="en-US" sz="1350" u="none" cap="none" strike="noStrike">
                <a:solidFill>
                  <a:srgbClr val="A3A3A3"/>
                </a:solidFill>
                <a:latin typeface="Urbanist"/>
                <a:ea typeface="Urbanist"/>
                <a:cs typeface="Urbanist"/>
                <a:sym typeface="Urbanist"/>
              </a:rPr>
              <a:t> game di Steam adalah berbayar (Paid), namun game gratis (Free) sering mencatatkan popularitas fenomenal karena tidak adanya </a:t>
            </a:r>
            <a:r>
              <a:rPr b="0" i="1" lang="en-US" sz="1350" u="none" cap="none" strike="noStrike">
                <a:solidFill>
                  <a:srgbClr val="A3A3A3"/>
                </a:solidFill>
                <a:latin typeface="Urbanist"/>
                <a:ea typeface="Urbanist"/>
                <a:cs typeface="Urbanist"/>
                <a:sym typeface="Urbanist"/>
              </a:rPr>
              <a:t>price barrier</a:t>
            </a:r>
            <a:r>
              <a:rPr b="0" i="0" lang="en-US" sz="1350" u="none" cap="none" strike="noStrike">
                <a:solidFill>
                  <a:srgbClr val="A3A3A3"/>
                </a:solidFill>
                <a:latin typeface="Urbanist"/>
                <a:ea typeface="Urbanist"/>
                <a:cs typeface="Urbanist"/>
                <a:sym typeface="Urbanist"/>
              </a:rPr>
              <a:t>.</a:t>
            </a:r>
            <a:endParaRPr/>
          </a:p>
        </p:txBody>
      </p:sp>
      <p:sp>
        <p:nvSpPr>
          <p:cNvPr id="225" name="Google Shape;225;p21"/>
          <p:cNvSpPr txBox="1"/>
          <p:nvPr/>
        </p:nvSpPr>
        <p:spPr>
          <a:xfrm>
            <a:off x="581025" y="4360515"/>
            <a:ext cx="522922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Variabel is_free menjadi fitur kunci dalam model AI.</a:t>
            </a:r>
            <a:endParaRPr/>
          </a:p>
        </p:txBody>
      </p:sp>
      <p:sp>
        <p:nvSpPr>
          <p:cNvPr id="226" name="Google Shape;226;p21"/>
          <p:cNvSpPr/>
          <p:nvPr/>
        </p:nvSpPr>
        <p:spPr>
          <a:xfrm>
            <a:off x="7417593" y="3005137"/>
            <a:ext cx="1714500" cy="1714500"/>
          </a:xfrm>
          <a:prstGeom prst="roundRect">
            <a:avLst>
              <a:gd fmla="val 50000" name="adj"/>
            </a:avLst>
          </a:prstGeom>
          <a:solidFill>
            <a:srgbClr val="0A0A0A"/>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7" name="Google Shape;227;p21"/>
          <p:cNvSpPr txBox="1"/>
          <p:nvPr/>
        </p:nvSpPr>
        <p:spPr>
          <a:xfrm>
            <a:off x="10179843" y="3410991"/>
            <a:ext cx="966787" cy="3656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00FF9D"/>
                </a:solidFill>
                <a:latin typeface="Urbanist"/>
                <a:ea typeface="Urbanist"/>
                <a:cs typeface="Urbanist"/>
                <a:sym typeface="Urbanist"/>
              </a:rPr>
              <a:t>●</a:t>
            </a:r>
            <a:r>
              <a:rPr b="0" i="0" lang="en-US" sz="1350" u="none" cap="none" strike="noStrike">
                <a:solidFill>
                  <a:srgbClr val="A3A3A3"/>
                </a:solidFill>
                <a:latin typeface="Urbanist"/>
                <a:ea typeface="Urbanist"/>
                <a:cs typeface="Urbanist"/>
                <a:sym typeface="Urbanist"/>
              </a:rPr>
              <a:t> Free (20%)</a:t>
            </a:r>
            <a:endParaRPr/>
          </a:p>
        </p:txBody>
      </p:sp>
      <p:sp>
        <p:nvSpPr>
          <p:cNvPr id="228" name="Google Shape;228;p21"/>
          <p:cNvSpPr txBox="1"/>
          <p:nvPr/>
        </p:nvSpPr>
        <p:spPr>
          <a:xfrm>
            <a:off x="10179843" y="3948112"/>
            <a:ext cx="966787" cy="3656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333333"/>
                </a:solidFill>
                <a:latin typeface="Urbanist"/>
                <a:ea typeface="Urbanist"/>
                <a:cs typeface="Urbanist"/>
                <a:sym typeface="Urbanist"/>
              </a:rPr>
              <a:t>●</a:t>
            </a:r>
            <a:r>
              <a:rPr b="0" i="0" lang="en-US" sz="1350" u="none" cap="none" strike="noStrike">
                <a:solidFill>
                  <a:srgbClr val="A3A3A3"/>
                </a:solidFill>
                <a:latin typeface="Urbanist"/>
                <a:ea typeface="Urbanist"/>
                <a:cs typeface="Urbanist"/>
                <a:sym typeface="Urbanist"/>
              </a:rPr>
              <a:t> Paid (80%)</a:t>
            </a:r>
            <a:endParaRPr/>
          </a:p>
        </p:txBody>
      </p:sp>
      <p:sp>
        <p:nvSpPr>
          <p:cNvPr id="229" name="Google Shape;229;p21"/>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EDA: Distribusi Model Bisnis</a:t>
            </a:r>
            <a:endParaRPr/>
          </a:p>
        </p:txBody>
      </p:sp>
      <p:sp>
        <p:nvSpPr>
          <p:cNvPr id="230" name="Google Shape;230;p21"/>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34" name="Shape 234"/>
        <p:cNvGrpSpPr/>
        <p:nvPr/>
      </p:nvGrpSpPr>
      <p:grpSpPr>
        <a:xfrm>
          <a:off x="0" y="0"/>
          <a:ext cx="0" cy="0"/>
          <a:chOff x="0" y="0"/>
          <a:chExt cx="0" cy="0"/>
        </a:xfrm>
      </p:grpSpPr>
      <p:pic>
        <p:nvPicPr>
          <p:cNvPr descr="image.png" id="235" name="Google Shape;23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36" name="Google Shape;236;p22"/>
          <p:cNvPicPr preferRelativeResize="0"/>
          <p:nvPr/>
        </p:nvPicPr>
        <p:blipFill rotWithShape="1">
          <a:blip r:embed="rId4">
            <a:alphaModFix/>
          </a:blip>
          <a:srcRect b="0" l="0" r="0" t="0"/>
          <a:stretch/>
        </p:blipFill>
        <p:spPr>
          <a:xfrm>
            <a:off x="581025" y="1447800"/>
            <a:ext cx="11029950" cy="4829175"/>
          </a:xfrm>
          <a:prstGeom prst="rect">
            <a:avLst/>
          </a:prstGeom>
          <a:noFill/>
          <a:ln>
            <a:noFill/>
          </a:ln>
        </p:spPr>
      </p:pic>
      <p:sp>
        <p:nvSpPr>
          <p:cNvPr id="237" name="Google Shape;237;p22"/>
          <p:cNvSpPr txBox="1"/>
          <p:nvPr/>
        </p:nvSpPr>
        <p:spPr>
          <a:xfrm>
            <a:off x="581025" y="4733925"/>
            <a:ext cx="110299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Hanya sekitar </a:t>
            </a:r>
            <a:r>
              <a:rPr b="1" i="0" lang="en-US" sz="1350" u="none" cap="none" strike="noStrike">
                <a:solidFill>
                  <a:srgbClr val="A3A3A3"/>
                </a:solidFill>
                <a:latin typeface="Urbanist"/>
                <a:ea typeface="Urbanist"/>
                <a:cs typeface="Urbanist"/>
                <a:sym typeface="Urbanist"/>
              </a:rPr>
              <a:t>2.2%</a:t>
            </a:r>
            <a:r>
              <a:rPr b="0" i="0" lang="en-US" sz="1350" u="none" cap="none" strike="noStrike">
                <a:solidFill>
                  <a:srgbClr val="A3A3A3"/>
                </a:solidFill>
                <a:latin typeface="Urbanist"/>
                <a:ea typeface="Urbanist"/>
                <a:cs typeface="Urbanist"/>
                <a:sym typeface="Urbanist"/>
              </a:rPr>
              <a:t> game yang memiliki skor Metacritic. Skor &gt; 90 adalah sinyal kuat untuk game "Blockbuster".</a:t>
            </a:r>
            <a:endParaRPr/>
          </a:p>
        </p:txBody>
      </p:sp>
      <p:sp>
        <p:nvSpPr>
          <p:cNvPr id="238" name="Google Shape;238;p22"/>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EDA: Analisis Kualitas (Metacritic)</a:t>
            </a:r>
            <a:endParaRPr/>
          </a:p>
        </p:txBody>
      </p:sp>
      <p:sp>
        <p:nvSpPr>
          <p:cNvPr id="239" name="Google Shape;239;p22"/>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43" name="Shape 243"/>
        <p:cNvGrpSpPr/>
        <p:nvPr/>
      </p:nvGrpSpPr>
      <p:grpSpPr>
        <a:xfrm>
          <a:off x="0" y="0"/>
          <a:ext cx="0" cy="0"/>
          <a:chOff x="0" y="0"/>
          <a:chExt cx="0" cy="0"/>
        </a:xfrm>
      </p:grpSpPr>
      <p:pic>
        <p:nvPicPr>
          <p:cNvPr descr="image.png" id="244" name="Google Shape;244;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45" name="Google Shape;245;p23"/>
          <p:cNvPicPr preferRelativeResize="0"/>
          <p:nvPr/>
        </p:nvPicPr>
        <p:blipFill rotWithShape="1">
          <a:blip r:embed="rId4">
            <a:alphaModFix/>
          </a:blip>
          <a:srcRect b="0" l="0" r="0" t="0"/>
          <a:stretch/>
        </p:blipFill>
        <p:spPr>
          <a:xfrm>
            <a:off x="581025" y="2195512"/>
            <a:ext cx="5229225" cy="3333750"/>
          </a:xfrm>
          <a:prstGeom prst="rect">
            <a:avLst/>
          </a:prstGeom>
          <a:noFill/>
          <a:ln>
            <a:noFill/>
          </a:ln>
        </p:spPr>
      </p:pic>
      <p:pic>
        <p:nvPicPr>
          <p:cNvPr id="246" name="Google Shape;246;p23" title="releases_over_time.png"/>
          <p:cNvPicPr preferRelativeResize="0"/>
          <p:nvPr/>
        </p:nvPicPr>
        <p:blipFill rotWithShape="1">
          <a:blip r:embed="rId5">
            <a:alphaModFix/>
          </a:blip>
          <a:srcRect b="0" l="33382" r="0" t="0"/>
          <a:stretch/>
        </p:blipFill>
        <p:spPr>
          <a:xfrm>
            <a:off x="590550" y="2205037"/>
            <a:ext cx="5210173" cy="3314701"/>
          </a:xfrm>
          <a:prstGeom prst="rect">
            <a:avLst/>
          </a:prstGeom>
          <a:noFill/>
          <a:ln>
            <a:noFill/>
          </a:ln>
        </p:spPr>
      </p:pic>
      <p:sp>
        <p:nvSpPr>
          <p:cNvPr id="247" name="Google Shape;247;p23"/>
          <p:cNvSpPr txBox="1"/>
          <p:nvPr/>
        </p:nvSpPr>
        <p:spPr>
          <a:xfrm>
            <a:off x="6381750" y="2781300"/>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Pertumbuhan Eksponensial</a:t>
            </a:r>
            <a:endParaRPr/>
          </a:p>
        </p:txBody>
      </p:sp>
      <p:sp>
        <p:nvSpPr>
          <p:cNvPr id="248" name="Google Shape;248;p23"/>
          <p:cNvSpPr txBox="1"/>
          <p:nvPr/>
        </p:nvSpPr>
        <p:spPr>
          <a:xfrm>
            <a:off x="6381750" y="3228975"/>
            <a:ext cx="5229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Sejak tahun 2014, terjadi lonjakan rilis game yang signifikan akibat kemudahan </a:t>
            </a:r>
            <a:r>
              <a:rPr b="0" i="1" lang="en-US" sz="1350" u="none" cap="none" strike="noStrike">
                <a:solidFill>
                  <a:srgbClr val="A3A3A3"/>
                </a:solidFill>
                <a:latin typeface="Urbanist"/>
                <a:ea typeface="Urbanist"/>
                <a:cs typeface="Urbanist"/>
                <a:sym typeface="Urbanist"/>
              </a:rPr>
              <a:t>self-publishing</a:t>
            </a:r>
            <a:r>
              <a:rPr b="0" i="0" lang="en-US" sz="1350" u="none" cap="none" strike="noStrike">
                <a:solidFill>
                  <a:srgbClr val="A3A3A3"/>
                </a:solidFill>
                <a:latin typeface="Urbanist"/>
                <a:ea typeface="Urbanist"/>
                <a:cs typeface="Urbanist"/>
                <a:sym typeface="Urbanist"/>
              </a:rPr>
              <a:t> (Steam Direct).</a:t>
            </a:r>
            <a:endParaRPr/>
          </a:p>
        </p:txBody>
      </p:sp>
      <p:sp>
        <p:nvSpPr>
          <p:cNvPr id="249" name="Google Shape;249;p23"/>
          <p:cNvSpPr txBox="1"/>
          <p:nvPr/>
        </p:nvSpPr>
        <p:spPr>
          <a:xfrm>
            <a:off x="6381750" y="3949005"/>
            <a:ext cx="522922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Pasar menjadi jenuh (saturated), sehingga variabel "Tahun Rilis" penting untuk normalisasi agar prediksi adil antara game lama dan baru.</a:t>
            </a:r>
            <a:endParaRPr/>
          </a:p>
        </p:txBody>
      </p:sp>
      <p:sp>
        <p:nvSpPr>
          <p:cNvPr id="250" name="Google Shape;250;p23"/>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EDA: Tren Rilis Game</a:t>
            </a:r>
            <a:endParaRPr/>
          </a:p>
        </p:txBody>
      </p:sp>
      <p:sp>
        <p:nvSpPr>
          <p:cNvPr id="251" name="Google Shape;251;p23"/>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55" name="Shape 255"/>
        <p:cNvGrpSpPr/>
        <p:nvPr/>
      </p:nvGrpSpPr>
      <p:grpSpPr>
        <a:xfrm>
          <a:off x="0" y="0"/>
          <a:ext cx="0" cy="0"/>
          <a:chOff x="0" y="0"/>
          <a:chExt cx="0" cy="0"/>
        </a:xfrm>
      </p:grpSpPr>
      <p:pic>
        <p:nvPicPr>
          <p:cNvPr descr="image.png" id="256" name="Google Shape;256;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57" name="Google Shape;257;p24"/>
          <p:cNvPicPr preferRelativeResize="0"/>
          <p:nvPr/>
        </p:nvPicPr>
        <p:blipFill rotWithShape="1">
          <a:blip r:embed="rId4">
            <a:alphaModFix/>
          </a:blip>
          <a:srcRect b="0" l="0" r="0" t="0"/>
          <a:stretch/>
        </p:blipFill>
        <p:spPr>
          <a:xfrm>
            <a:off x="581025" y="2289869"/>
            <a:ext cx="3486150" cy="3145035"/>
          </a:xfrm>
          <a:prstGeom prst="rect">
            <a:avLst/>
          </a:prstGeom>
          <a:noFill/>
          <a:ln>
            <a:noFill/>
          </a:ln>
        </p:spPr>
      </p:pic>
      <p:pic>
        <p:nvPicPr>
          <p:cNvPr descr="image.png" id="258" name="Google Shape;258;p24"/>
          <p:cNvPicPr preferRelativeResize="0"/>
          <p:nvPr/>
        </p:nvPicPr>
        <p:blipFill rotWithShape="1">
          <a:blip r:embed="rId5">
            <a:alphaModFix/>
          </a:blip>
          <a:srcRect b="0" l="0" r="0" t="0"/>
          <a:stretch/>
        </p:blipFill>
        <p:spPr>
          <a:xfrm>
            <a:off x="4352925" y="2289869"/>
            <a:ext cx="3486150" cy="3145035"/>
          </a:xfrm>
          <a:prstGeom prst="rect">
            <a:avLst/>
          </a:prstGeom>
          <a:noFill/>
          <a:ln>
            <a:noFill/>
          </a:ln>
        </p:spPr>
      </p:pic>
      <p:pic>
        <p:nvPicPr>
          <p:cNvPr descr="image.png" id="259" name="Google Shape;259;p24"/>
          <p:cNvPicPr preferRelativeResize="0"/>
          <p:nvPr/>
        </p:nvPicPr>
        <p:blipFill rotWithShape="1">
          <a:blip r:embed="rId6">
            <a:alphaModFix/>
          </a:blip>
          <a:srcRect b="0" l="0" r="0" t="0"/>
          <a:stretch/>
        </p:blipFill>
        <p:spPr>
          <a:xfrm>
            <a:off x="8124825" y="2289869"/>
            <a:ext cx="3486150" cy="3145035"/>
          </a:xfrm>
          <a:prstGeom prst="rect">
            <a:avLst/>
          </a:prstGeom>
          <a:noFill/>
          <a:ln>
            <a:noFill/>
          </a:ln>
        </p:spPr>
      </p:pic>
      <p:sp>
        <p:nvSpPr>
          <p:cNvPr id="260" name="Google Shape;260;p24"/>
          <p:cNvSpPr txBox="1"/>
          <p:nvPr/>
        </p:nvSpPr>
        <p:spPr>
          <a:xfrm>
            <a:off x="1905610" y="3328094"/>
            <a:ext cx="836979"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Filtering</a:t>
            </a:r>
            <a:endParaRPr/>
          </a:p>
        </p:txBody>
      </p:sp>
      <p:sp>
        <p:nvSpPr>
          <p:cNvPr id="261" name="Google Shape;261;p24"/>
          <p:cNvSpPr txBox="1"/>
          <p:nvPr/>
        </p:nvSpPr>
        <p:spPr>
          <a:xfrm>
            <a:off x="876300" y="3871019"/>
            <a:ext cx="289560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Hanya mengambil entitas tipe </a:t>
            </a:r>
            <a:r>
              <a:rPr b="1" i="0" lang="en-US" sz="1350" u="none" cap="none" strike="noStrike">
                <a:solidFill>
                  <a:srgbClr val="A3A3A3"/>
                </a:solidFill>
                <a:latin typeface="Urbanist"/>
                <a:ea typeface="Urbanist"/>
                <a:cs typeface="Urbanist"/>
                <a:sym typeface="Urbanist"/>
              </a:rPr>
              <a:t>'Game'</a:t>
            </a:r>
            <a:r>
              <a:rPr b="0" i="0" lang="en-US" sz="1350" u="none" cap="none" strike="noStrike">
                <a:solidFill>
                  <a:srgbClr val="A3A3A3"/>
                </a:solidFill>
                <a:latin typeface="Urbanist"/>
                <a:ea typeface="Urbanist"/>
                <a:cs typeface="Urbanist"/>
                <a:sym typeface="Urbanist"/>
              </a:rPr>
              <a:t>. Membuang DLC, Soundtrack, dan Tools untuk menjaga konsistensi data (apple-to-apple comparison).</a:t>
            </a:r>
            <a:endParaRPr/>
          </a:p>
        </p:txBody>
      </p:sp>
      <p:sp>
        <p:nvSpPr>
          <p:cNvPr id="262" name="Google Shape;262;p24"/>
          <p:cNvSpPr txBox="1"/>
          <p:nvPr/>
        </p:nvSpPr>
        <p:spPr>
          <a:xfrm>
            <a:off x="5329497" y="3328094"/>
            <a:ext cx="153300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Missing Values</a:t>
            </a:r>
            <a:endParaRPr/>
          </a:p>
        </p:txBody>
      </p:sp>
      <p:sp>
        <p:nvSpPr>
          <p:cNvPr id="263" name="Google Shape;263;p24"/>
          <p:cNvSpPr txBox="1"/>
          <p:nvPr/>
        </p:nvSpPr>
        <p:spPr>
          <a:xfrm>
            <a:off x="4648200" y="3871019"/>
            <a:ext cx="28956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Mengisi nilai kosong pada Metacritic dan Recommendations dengan 0 (asumsi belum cukup populer).</a:t>
            </a:r>
            <a:endParaRPr/>
          </a:p>
        </p:txBody>
      </p:sp>
      <p:sp>
        <p:nvSpPr>
          <p:cNvPr id="264" name="Google Shape;264;p24"/>
          <p:cNvSpPr txBox="1"/>
          <p:nvPr/>
        </p:nvSpPr>
        <p:spPr>
          <a:xfrm>
            <a:off x="9153908" y="3328094"/>
            <a:ext cx="142783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Standardisasi</a:t>
            </a:r>
            <a:endParaRPr/>
          </a:p>
        </p:txBody>
      </p:sp>
      <p:sp>
        <p:nvSpPr>
          <p:cNvPr id="265" name="Google Shape;265;p24"/>
          <p:cNvSpPr txBox="1"/>
          <p:nvPr/>
        </p:nvSpPr>
        <p:spPr>
          <a:xfrm>
            <a:off x="8420100" y="3871019"/>
            <a:ext cx="2895600" cy="82287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Lowercase text, menghapus spasi berlebih, dan One-Hot Encoding untuk genre/kategori.</a:t>
            </a:r>
            <a:endParaRPr/>
          </a:p>
        </p:txBody>
      </p:sp>
      <p:pic>
        <p:nvPicPr>
          <p:cNvPr descr="image.png" id="266" name="Google Shape;266;p24"/>
          <p:cNvPicPr preferRelativeResize="0"/>
          <p:nvPr/>
        </p:nvPicPr>
        <p:blipFill rotWithShape="1">
          <a:blip r:embed="rId7">
            <a:alphaModFix/>
          </a:blip>
          <a:srcRect b="0" l="0" r="0" t="0"/>
          <a:stretch/>
        </p:blipFill>
        <p:spPr>
          <a:xfrm>
            <a:off x="2095500" y="2623244"/>
            <a:ext cx="457200" cy="457200"/>
          </a:xfrm>
          <a:prstGeom prst="rect">
            <a:avLst/>
          </a:prstGeom>
          <a:noFill/>
          <a:ln>
            <a:noFill/>
          </a:ln>
        </p:spPr>
      </p:pic>
      <p:pic>
        <p:nvPicPr>
          <p:cNvPr descr="image.png" id="267" name="Google Shape;267;p24"/>
          <p:cNvPicPr preferRelativeResize="0"/>
          <p:nvPr/>
        </p:nvPicPr>
        <p:blipFill rotWithShape="1">
          <a:blip r:embed="rId8">
            <a:alphaModFix/>
          </a:blip>
          <a:srcRect b="0" l="0" r="0" t="0"/>
          <a:stretch/>
        </p:blipFill>
        <p:spPr>
          <a:xfrm>
            <a:off x="5838825" y="2623244"/>
            <a:ext cx="514350" cy="457200"/>
          </a:xfrm>
          <a:prstGeom prst="rect">
            <a:avLst/>
          </a:prstGeom>
          <a:noFill/>
          <a:ln>
            <a:noFill/>
          </a:ln>
        </p:spPr>
      </p:pic>
      <p:pic>
        <p:nvPicPr>
          <p:cNvPr descr="image.png" id="268" name="Google Shape;268;p24"/>
          <p:cNvPicPr preferRelativeResize="0"/>
          <p:nvPr/>
        </p:nvPicPr>
        <p:blipFill rotWithShape="1">
          <a:blip r:embed="rId9">
            <a:alphaModFix/>
          </a:blip>
          <a:srcRect b="0" l="0" r="0" t="0"/>
          <a:stretch/>
        </p:blipFill>
        <p:spPr>
          <a:xfrm>
            <a:off x="9667875" y="2623244"/>
            <a:ext cx="400050" cy="457200"/>
          </a:xfrm>
          <a:prstGeom prst="rect">
            <a:avLst/>
          </a:prstGeom>
          <a:noFill/>
          <a:ln>
            <a:noFill/>
          </a:ln>
        </p:spPr>
      </p:pic>
      <p:sp>
        <p:nvSpPr>
          <p:cNvPr id="269" name="Google Shape;269;p24"/>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Pra-Pemrosesan Data</a:t>
            </a:r>
            <a:endParaRPr/>
          </a:p>
        </p:txBody>
      </p:sp>
      <p:sp>
        <p:nvSpPr>
          <p:cNvPr id="270" name="Google Shape;270;p24"/>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74" name="Shape 274"/>
        <p:cNvGrpSpPr/>
        <p:nvPr/>
      </p:nvGrpSpPr>
      <p:grpSpPr>
        <a:xfrm>
          <a:off x="0" y="0"/>
          <a:ext cx="0" cy="0"/>
          <a:chOff x="0" y="0"/>
          <a:chExt cx="0" cy="0"/>
        </a:xfrm>
      </p:grpSpPr>
      <p:pic>
        <p:nvPicPr>
          <p:cNvPr descr="image.png" id="275" name="Google Shape;275;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76" name="Google Shape;276;p25" title="Screenshot 2025-12-22 214203.png"/>
          <p:cNvPicPr preferRelativeResize="0"/>
          <p:nvPr/>
        </p:nvPicPr>
        <p:blipFill rotWithShape="1">
          <a:blip r:embed="rId4">
            <a:alphaModFix/>
          </a:blip>
          <a:srcRect b="0" l="0" r="22624" t="0"/>
          <a:stretch/>
        </p:blipFill>
        <p:spPr>
          <a:xfrm>
            <a:off x="6381750" y="2971800"/>
            <a:ext cx="5229224" cy="1781175"/>
          </a:xfrm>
          <a:prstGeom prst="rect">
            <a:avLst/>
          </a:prstGeom>
          <a:noFill/>
          <a:ln>
            <a:noFill/>
          </a:ln>
        </p:spPr>
      </p:pic>
      <p:sp>
        <p:nvSpPr>
          <p:cNvPr id="277" name="Google Shape;277;p25"/>
          <p:cNvSpPr txBox="1"/>
          <p:nvPr/>
        </p:nvSpPr>
        <p:spPr>
          <a:xfrm>
            <a:off x="581025" y="2260401"/>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Fitur Baru yang Dibuat</a:t>
            </a:r>
            <a:endParaRPr/>
          </a:p>
        </p:txBody>
      </p:sp>
      <p:sp>
        <p:nvSpPr>
          <p:cNvPr id="278" name="Google Shape;278;p25"/>
          <p:cNvSpPr txBox="1"/>
          <p:nvPr/>
        </p:nvSpPr>
        <p:spPr>
          <a:xfrm>
            <a:off x="866775" y="2689026"/>
            <a:ext cx="4943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Positive Review Ratio:</a:t>
            </a:r>
            <a:r>
              <a:rPr b="0" i="0" lang="en-US" sz="1350" u="none" cap="none" strike="noStrike">
                <a:solidFill>
                  <a:srgbClr val="A3A3A3"/>
                </a:solidFill>
                <a:latin typeface="Urbanist"/>
                <a:ea typeface="Urbanist"/>
                <a:cs typeface="Urbanist"/>
                <a:sym typeface="Urbanist"/>
              </a:rPr>
              <a:t> Rasio ulasan positif terhadap total ulasan (Indikator Kepuasan).</a:t>
            </a:r>
            <a:endParaRPr/>
          </a:p>
        </p:txBody>
      </p:sp>
      <p:sp>
        <p:nvSpPr>
          <p:cNvPr id="279" name="Google Shape;279;p25"/>
          <p:cNvSpPr txBox="1"/>
          <p:nvPr/>
        </p:nvSpPr>
        <p:spPr>
          <a:xfrm>
            <a:off x="866775" y="3380482"/>
            <a:ext cx="4943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Engagement Score:</a:t>
            </a:r>
            <a:r>
              <a:rPr b="0" i="0" lang="en-US" sz="1350" u="none" cap="none" strike="noStrike">
                <a:solidFill>
                  <a:srgbClr val="A3A3A3"/>
                </a:solidFill>
                <a:latin typeface="Urbanist"/>
                <a:ea typeface="Urbanist"/>
                <a:cs typeface="Urbanist"/>
                <a:sym typeface="Urbanist"/>
              </a:rPr>
              <a:t> Agregasi dari upvotes dan komentar pada review.</a:t>
            </a:r>
            <a:endParaRPr/>
          </a:p>
        </p:txBody>
      </p:sp>
      <p:sp>
        <p:nvSpPr>
          <p:cNvPr id="280" name="Google Shape;280;p25"/>
          <p:cNvSpPr txBox="1"/>
          <p:nvPr/>
        </p:nvSpPr>
        <p:spPr>
          <a:xfrm>
            <a:off x="866775" y="4071937"/>
            <a:ext cx="4943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Developer Reputation:</a:t>
            </a:r>
            <a:r>
              <a:rPr b="0" i="0" lang="en-US" sz="1350" u="none" cap="none" strike="noStrike">
                <a:solidFill>
                  <a:srgbClr val="A3A3A3"/>
                </a:solidFill>
                <a:latin typeface="Urbanist"/>
                <a:ea typeface="Urbanist"/>
                <a:cs typeface="Urbanist"/>
                <a:sym typeface="Urbanist"/>
              </a:rPr>
              <a:t> Rata-rata rekomendasi dari game sebelumnya.</a:t>
            </a:r>
            <a:endParaRPr/>
          </a:p>
        </p:txBody>
      </p:sp>
      <p:sp>
        <p:nvSpPr>
          <p:cNvPr id="281" name="Google Shape;281;p25"/>
          <p:cNvSpPr txBox="1"/>
          <p:nvPr/>
        </p:nvSpPr>
        <p:spPr>
          <a:xfrm>
            <a:off x="866775" y="4763392"/>
            <a:ext cx="494347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Publisher Size:</a:t>
            </a:r>
            <a:r>
              <a:rPr b="0" i="0" lang="en-US" sz="1350" u="none" cap="none" strike="noStrike">
                <a:solidFill>
                  <a:srgbClr val="A3A3A3"/>
                </a:solidFill>
                <a:latin typeface="Urbanist"/>
                <a:ea typeface="Urbanist"/>
                <a:cs typeface="Urbanist"/>
                <a:sym typeface="Urbanist"/>
              </a:rPr>
              <a:t> Kategori skala publisher (Indie, Small, Medium, Large).</a:t>
            </a:r>
            <a:endParaRPr/>
          </a:p>
        </p:txBody>
      </p:sp>
      <p:sp>
        <p:nvSpPr>
          <p:cNvPr id="282" name="Google Shape;282;p25"/>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Feature Engineering</a:t>
            </a:r>
            <a:endParaRPr/>
          </a:p>
        </p:txBody>
      </p:sp>
      <p:sp>
        <p:nvSpPr>
          <p:cNvPr id="283" name="Google Shape;283;p25"/>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284" name="Google Shape;284;p25"/>
          <p:cNvPicPr preferRelativeResize="0"/>
          <p:nvPr/>
        </p:nvPicPr>
        <p:blipFill rotWithShape="1">
          <a:blip r:embed="rId5">
            <a:alphaModFix/>
          </a:blip>
          <a:srcRect b="0" l="0" r="0" t="0"/>
          <a:stretch/>
        </p:blipFill>
        <p:spPr>
          <a:xfrm>
            <a:off x="581025" y="2727126"/>
            <a:ext cx="85725" cy="142875"/>
          </a:xfrm>
          <a:prstGeom prst="rect">
            <a:avLst/>
          </a:prstGeom>
          <a:noFill/>
          <a:ln>
            <a:noFill/>
          </a:ln>
        </p:spPr>
      </p:pic>
      <p:pic>
        <p:nvPicPr>
          <p:cNvPr descr="image.png" id="285" name="Google Shape;285;p25"/>
          <p:cNvPicPr preferRelativeResize="0"/>
          <p:nvPr/>
        </p:nvPicPr>
        <p:blipFill rotWithShape="1">
          <a:blip r:embed="rId5">
            <a:alphaModFix/>
          </a:blip>
          <a:srcRect b="0" l="0" r="0" t="0"/>
          <a:stretch/>
        </p:blipFill>
        <p:spPr>
          <a:xfrm>
            <a:off x="581025" y="3418582"/>
            <a:ext cx="85725" cy="142875"/>
          </a:xfrm>
          <a:prstGeom prst="rect">
            <a:avLst/>
          </a:prstGeom>
          <a:noFill/>
          <a:ln>
            <a:noFill/>
          </a:ln>
        </p:spPr>
      </p:pic>
      <p:pic>
        <p:nvPicPr>
          <p:cNvPr descr="image.png" id="286" name="Google Shape;286;p25"/>
          <p:cNvPicPr preferRelativeResize="0"/>
          <p:nvPr/>
        </p:nvPicPr>
        <p:blipFill rotWithShape="1">
          <a:blip r:embed="rId5">
            <a:alphaModFix/>
          </a:blip>
          <a:srcRect b="0" l="0" r="0" t="0"/>
          <a:stretch/>
        </p:blipFill>
        <p:spPr>
          <a:xfrm>
            <a:off x="581025" y="4110037"/>
            <a:ext cx="85725" cy="142875"/>
          </a:xfrm>
          <a:prstGeom prst="rect">
            <a:avLst/>
          </a:prstGeom>
          <a:noFill/>
          <a:ln>
            <a:noFill/>
          </a:ln>
        </p:spPr>
      </p:pic>
      <p:pic>
        <p:nvPicPr>
          <p:cNvPr descr="image.png" id="287" name="Google Shape;287;p25"/>
          <p:cNvPicPr preferRelativeResize="0"/>
          <p:nvPr/>
        </p:nvPicPr>
        <p:blipFill rotWithShape="1">
          <a:blip r:embed="rId5">
            <a:alphaModFix/>
          </a:blip>
          <a:srcRect b="0" l="0" r="0" t="0"/>
          <a:stretch/>
        </p:blipFill>
        <p:spPr>
          <a:xfrm>
            <a:off x="581025" y="4801492"/>
            <a:ext cx="85725" cy="142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291" name="Shape 291"/>
        <p:cNvGrpSpPr/>
        <p:nvPr/>
      </p:nvGrpSpPr>
      <p:grpSpPr>
        <a:xfrm>
          <a:off x="0" y="0"/>
          <a:ext cx="0" cy="0"/>
          <a:chOff x="0" y="0"/>
          <a:chExt cx="0" cy="0"/>
        </a:xfrm>
      </p:grpSpPr>
      <p:pic>
        <p:nvPicPr>
          <p:cNvPr descr="image.png" id="292" name="Google Shape;292;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93" name="Google Shape;293;p26"/>
          <p:cNvPicPr preferRelativeResize="0"/>
          <p:nvPr/>
        </p:nvPicPr>
        <p:blipFill rotWithShape="1">
          <a:blip r:embed="rId4">
            <a:alphaModFix/>
          </a:blip>
          <a:srcRect b="0" l="0" r="0" t="0"/>
          <a:stretch/>
        </p:blipFill>
        <p:spPr>
          <a:xfrm>
            <a:off x="581025" y="3524250"/>
            <a:ext cx="2543175" cy="1579215"/>
          </a:xfrm>
          <a:prstGeom prst="rect">
            <a:avLst/>
          </a:prstGeom>
          <a:noFill/>
          <a:ln>
            <a:noFill/>
          </a:ln>
        </p:spPr>
      </p:pic>
      <p:pic>
        <p:nvPicPr>
          <p:cNvPr descr="image.png" id="294" name="Google Shape;294;p26"/>
          <p:cNvPicPr preferRelativeResize="0"/>
          <p:nvPr/>
        </p:nvPicPr>
        <p:blipFill rotWithShape="1">
          <a:blip r:embed="rId5">
            <a:alphaModFix/>
          </a:blip>
          <a:srcRect b="0" l="0" r="0" t="0"/>
          <a:stretch/>
        </p:blipFill>
        <p:spPr>
          <a:xfrm>
            <a:off x="3409950" y="3524250"/>
            <a:ext cx="2543175" cy="1579215"/>
          </a:xfrm>
          <a:prstGeom prst="rect">
            <a:avLst/>
          </a:prstGeom>
          <a:noFill/>
          <a:ln>
            <a:noFill/>
          </a:ln>
        </p:spPr>
      </p:pic>
      <p:pic>
        <p:nvPicPr>
          <p:cNvPr descr="image.png" id="295" name="Google Shape;295;p26"/>
          <p:cNvPicPr preferRelativeResize="0"/>
          <p:nvPr/>
        </p:nvPicPr>
        <p:blipFill rotWithShape="1">
          <a:blip r:embed="rId6">
            <a:alphaModFix/>
          </a:blip>
          <a:srcRect b="0" l="0" r="0" t="0"/>
          <a:stretch/>
        </p:blipFill>
        <p:spPr>
          <a:xfrm>
            <a:off x="6238875" y="3524250"/>
            <a:ext cx="2543175" cy="1579215"/>
          </a:xfrm>
          <a:prstGeom prst="rect">
            <a:avLst/>
          </a:prstGeom>
          <a:noFill/>
          <a:ln>
            <a:noFill/>
          </a:ln>
        </p:spPr>
      </p:pic>
      <p:pic>
        <p:nvPicPr>
          <p:cNvPr descr="image.png" id="296" name="Google Shape;296;p26"/>
          <p:cNvPicPr preferRelativeResize="0"/>
          <p:nvPr/>
        </p:nvPicPr>
        <p:blipFill rotWithShape="1">
          <a:blip r:embed="rId7">
            <a:alphaModFix/>
          </a:blip>
          <a:srcRect b="0" l="0" r="0" t="0"/>
          <a:stretch/>
        </p:blipFill>
        <p:spPr>
          <a:xfrm>
            <a:off x="9067800" y="3524250"/>
            <a:ext cx="2543175" cy="1579215"/>
          </a:xfrm>
          <a:prstGeom prst="rect">
            <a:avLst/>
          </a:prstGeom>
          <a:noFill/>
          <a:ln>
            <a:noFill/>
          </a:ln>
        </p:spPr>
      </p:pic>
      <p:sp>
        <p:nvSpPr>
          <p:cNvPr id="297" name="Google Shape;297;p26"/>
          <p:cNvSpPr txBox="1"/>
          <p:nvPr/>
        </p:nvSpPr>
        <p:spPr>
          <a:xfrm>
            <a:off x="581025" y="2792759"/>
            <a:ext cx="110299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Memprediksi 4 target sekaligus untuk gambaran kesuksesan yang utuh:</a:t>
            </a:r>
            <a:endParaRPr/>
          </a:p>
        </p:txBody>
      </p:sp>
      <p:sp>
        <p:nvSpPr>
          <p:cNvPr id="298" name="Google Shape;298;p26"/>
          <p:cNvSpPr txBox="1"/>
          <p:nvPr/>
        </p:nvSpPr>
        <p:spPr>
          <a:xfrm>
            <a:off x="1045796" y="3819525"/>
            <a:ext cx="161348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Positive Ratings</a:t>
            </a:r>
            <a:endParaRPr/>
          </a:p>
        </p:txBody>
      </p:sp>
      <p:sp>
        <p:nvSpPr>
          <p:cNvPr id="299" name="Google Shape;299;p26"/>
          <p:cNvSpPr txBox="1"/>
          <p:nvPr/>
        </p:nvSpPr>
        <p:spPr>
          <a:xfrm>
            <a:off x="1090612" y="4362450"/>
            <a:ext cx="15240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Jumlah ulasan positif</a:t>
            </a:r>
            <a:endParaRPr/>
          </a:p>
        </p:txBody>
      </p:sp>
      <p:sp>
        <p:nvSpPr>
          <p:cNvPr id="300" name="Google Shape;300;p26"/>
          <p:cNvSpPr txBox="1"/>
          <p:nvPr/>
        </p:nvSpPr>
        <p:spPr>
          <a:xfrm>
            <a:off x="3789711" y="3819525"/>
            <a:ext cx="178350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Negative Ratings</a:t>
            </a:r>
            <a:endParaRPr/>
          </a:p>
        </p:txBody>
      </p:sp>
      <p:sp>
        <p:nvSpPr>
          <p:cNvPr id="301" name="Google Shape;301;p26"/>
          <p:cNvSpPr txBox="1"/>
          <p:nvPr/>
        </p:nvSpPr>
        <p:spPr>
          <a:xfrm>
            <a:off x="3914775" y="4362450"/>
            <a:ext cx="153352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Jumlah kritik/keluhan</a:t>
            </a:r>
            <a:endParaRPr/>
          </a:p>
        </p:txBody>
      </p:sp>
      <p:sp>
        <p:nvSpPr>
          <p:cNvPr id="302" name="Google Shape;302;p26"/>
          <p:cNvSpPr txBox="1"/>
          <p:nvPr/>
        </p:nvSpPr>
        <p:spPr>
          <a:xfrm>
            <a:off x="6814125" y="3819525"/>
            <a:ext cx="139267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Avg Playtime</a:t>
            </a:r>
            <a:endParaRPr/>
          </a:p>
        </p:txBody>
      </p:sp>
      <p:sp>
        <p:nvSpPr>
          <p:cNvPr id="303" name="Google Shape;303;p26"/>
          <p:cNvSpPr txBox="1"/>
          <p:nvPr/>
        </p:nvSpPr>
        <p:spPr>
          <a:xfrm>
            <a:off x="6710362" y="4362450"/>
            <a:ext cx="160020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Rata-rata durasi main</a:t>
            </a:r>
            <a:endParaRPr/>
          </a:p>
        </p:txBody>
      </p:sp>
      <p:sp>
        <p:nvSpPr>
          <p:cNvPr id="304" name="Google Shape;304;p26"/>
          <p:cNvSpPr txBox="1"/>
          <p:nvPr/>
        </p:nvSpPr>
        <p:spPr>
          <a:xfrm>
            <a:off x="9460215" y="3819525"/>
            <a:ext cx="1758344"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Median Playtime</a:t>
            </a:r>
            <a:endParaRPr/>
          </a:p>
        </p:txBody>
      </p:sp>
      <p:sp>
        <p:nvSpPr>
          <p:cNvPr id="305" name="Google Shape;305;p26"/>
          <p:cNvSpPr txBox="1"/>
          <p:nvPr/>
        </p:nvSpPr>
        <p:spPr>
          <a:xfrm>
            <a:off x="9667875" y="4362450"/>
            <a:ext cx="134302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Nilai tengah durasi</a:t>
            </a:r>
            <a:endParaRPr/>
          </a:p>
        </p:txBody>
      </p:sp>
      <p:sp>
        <p:nvSpPr>
          <p:cNvPr id="306" name="Google Shape;306;p26"/>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Skenario: Multi-Output Regression</a:t>
            </a:r>
            <a:endParaRPr/>
          </a:p>
        </p:txBody>
      </p:sp>
      <p:sp>
        <p:nvSpPr>
          <p:cNvPr id="307" name="Google Shape;307;p26"/>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11" name="Shape 311"/>
        <p:cNvGrpSpPr/>
        <p:nvPr/>
      </p:nvGrpSpPr>
      <p:grpSpPr>
        <a:xfrm>
          <a:off x="0" y="0"/>
          <a:ext cx="0" cy="0"/>
          <a:chOff x="0" y="0"/>
          <a:chExt cx="0" cy="0"/>
        </a:xfrm>
      </p:grpSpPr>
      <p:pic>
        <p:nvPicPr>
          <p:cNvPr descr="image.png" id="312" name="Google Shape;312;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3" name="Google Shape;313;p27"/>
          <p:cNvPicPr preferRelativeResize="0"/>
          <p:nvPr/>
        </p:nvPicPr>
        <p:blipFill rotWithShape="1">
          <a:blip r:embed="rId4">
            <a:alphaModFix/>
          </a:blip>
          <a:srcRect b="0" l="0" r="0" t="0"/>
          <a:stretch/>
        </p:blipFill>
        <p:spPr>
          <a:xfrm>
            <a:off x="581025" y="3081486"/>
            <a:ext cx="5229225" cy="925264"/>
          </a:xfrm>
          <a:prstGeom prst="rect">
            <a:avLst/>
          </a:prstGeom>
          <a:noFill/>
          <a:ln>
            <a:noFill/>
          </a:ln>
        </p:spPr>
      </p:pic>
      <p:pic>
        <p:nvPicPr>
          <p:cNvPr descr="image.png" id="314" name="Google Shape;314;p27"/>
          <p:cNvPicPr preferRelativeResize="0"/>
          <p:nvPr/>
        </p:nvPicPr>
        <p:blipFill rotWithShape="1">
          <a:blip r:embed="rId5">
            <a:alphaModFix/>
          </a:blip>
          <a:srcRect b="0" l="0" r="0" t="0"/>
          <a:stretch/>
        </p:blipFill>
        <p:spPr>
          <a:xfrm>
            <a:off x="6381750" y="2968525"/>
            <a:ext cx="5229225" cy="1151334"/>
          </a:xfrm>
          <a:prstGeom prst="rect">
            <a:avLst/>
          </a:prstGeom>
          <a:noFill/>
          <a:ln>
            <a:noFill/>
          </a:ln>
        </p:spPr>
      </p:pic>
      <p:sp>
        <p:nvSpPr>
          <p:cNvPr id="315" name="Google Shape;315;p27"/>
          <p:cNvSpPr txBox="1"/>
          <p:nvPr/>
        </p:nvSpPr>
        <p:spPr>
          <a:xfrm>
            <a:off x="581025" y="4197250"/>
            <a:ext cx="522922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Root Mean Squared Error: Menghukum error besar.</a:t>
            </a:r>
            <a:endParaRPr/>
          </a:p>
        </p:txBody>
      </p:sp>
      <p:sp>
        <p:nvSpPr>
          <p:cNvPr id="316" name="Google Shape;316;p27"/>
          <p:cNvSpPr txBox="1"/>
          <p:nvPr/>
        </p:nvSpPr>
        <p:spPr>
          <a:xfrm>
            <a:off x="6381750" y="4310360"/>
            <a:ext cx="5229225"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R-Squared: Menjelaskan variansi data.</a:t>
            </a:r>
            <a:endParaRPr/>
          </a:p>
        </p:txBody>
      </p:sp>
      <p:pic>
        <p:nvPicPr>
          <p:cNvPr descr="image.png" id="317" name="Google Shape;317;p27"/>
          <p:cNvPicPr preferRelativeResize="0"/>
          <p:nvPr/>
        </p:nvPicPr>
        <p:blipFill rotWithShape="1">
          <a:blip r:embed="rId6">
            <a:alphaModFix/>
          </a:blip>
          <a:srcRect b="0" l="0" r="0" t="0"/>
          <a:stretch/>
        </p:blipFill>
        <p:spPr>
          <a:xfrm>
            <a:off x="771525" y="3271986"/>
            <a:ext cx="4848225" cy="544264"/>
          </a:xfrm>
          <a:prstGeom prst="rect">
            <a:avLst/>
          </a:prstGeom>
          <a:noFill/>
          <a:ln>
            <a:noFill/>
          </a:ln>
        </p:spPr>
      </p:pic>
      <p:pic>
        <p:nvPicPr>
          <p:cNvPr descr="image.png" id="318" name="Google Shape;318;p27"/>
          <p:cNvPicPr preferRelativeResize="0"/>
          <p:nvPr/>
        </p:nvPicPr>
        <p:blipFill rotWithShape="1">
          <a:blip r:embed="rId7">
            <a:alphaModFix/>
          </a:blip>
          <a:srcRect b="0" l="0" r="0" t="0"/>
          <a:stretch/>
        </p:blipFill>
        <p:spPr>
          <a:xfrm>
            <a:off x="6572250" y="3159025"/>
            <a:ext cx="4848225" cy="770334"/>
          </a:xfrm>
          <a:prstGeom prst="rect">
            <a:avLst/>
          </a:prstGeom>
          <a:noFill/>
          <a:ln>
            <a:noFill/>
          </a:ln>
        </p:spPr>
      </p:pic>
      <p:sp>
        <p:nvSpPr>
          <p:cNvPr id="319" name="Google Shape;319;p27"/>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Metrik Evaluasi</a:t>
            </a:r>
            <a:endParaRPr/>
          </a:p>
        </p:txBody>
      </p:sp>
      <p:sp>
        <p:nvSpPr>
          <p:cNvPr id="320" name="Google Shape;320;p27"/>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24" name="Shape 324"/>
        <p:cNvGrpSpPr/>
        <p:nvPr/>
      </p:nvGrpSpPr>
      <p:grpSpPr>
        <a:xfrm>
          <a:off x="0" y="0"/>
          <a:ext cx="0" cy="0"/>
          <a:chOff x="0" y="0"/>
          <a:chExt cx="0" cy="0"/>
        </a:xfrm>
      </p:grpSpPr>
      <p:pic>
        <p:nvPicPr>
          <p:cNvPr descr="image.png" id="325" name="Google Shape;325;p28"/>
          <p:cNvPicPr preferRelativeResize="0"/>
          <p:nvPr/>
        </p:nvPicPr>
        <p:blipFill rotWithShape="1">
          <a:blip r:embed="rId3">
            <a:alphaModFix/>
          </a:blip>
          <a:srcRect b="0" l="0" r="0" t="0"/>
          <a:stretch/>
        </p:blipFill>
        <p:spPr>
          <a:xfrm>
            <a:off x="0" y="0"/>
            <a:ext cx="12192000" cy="6858000"/>
          </a:xfrm>
          <a:prstGeom prst="rect">
            <a:avLst/>
          </a:prstGeom>
          <a:noFill/>
          <a:ln>
            <a:noFill/>
          </a:ln>
        </p:spPr>
      </p:pic>
      <p:graphicFrame>
        <p:nvGraphicFramePr>
          <p:cNvPr id="326" name="Google Shape;326;p28"/>
          <p:cNvGraphicFramePr/>
          <p:nvPr/>
        </p:nvGraphicFramePr>
        <p:xfrm>
          <a:off x="581025" y="1941314"/>
          <a:ext cx="3000000" cy="3000000"/>
        </p:xfrm>
        <a:graphic>
          <a:graphicData uri="http://schemas.openxmlformats.org/drawingml/2006/table">
            <a:tbl>
              <a:tblPr bandRow="1" firstRow="1">
                <a:noFill/>
                <a:tableStyleId>{77499ABC-314E-415A-9807-918D11E74483}</a:tableStyleId>
              </a:tblPr>
              <a:tblGrid>
                <a:gridCol w="3135225"/>
                <a:gridCol w="2572050"/>
                <a:gridCol w="3416800"/>
                <a:gridCol w="1896375"/>
              </a:tblGrid>
              <a:tr h="566075">
                <a:tc>
                  <a:txBody>
                    <a:bodyPr/>
                    <a:lstStyle/>
                    <a:p>
                      <a:pPr indent="0" lvl="0" marL="0" marR="0" rtl="0" algn="l">
                        <a:spcBef>
                          <a:spcPts val="0"/>
                        </a:spcBef>
                        <a:spcAft>
                          <a:spcPts val="0"/>
                        </a:spcAft>
                        <a:buNone/>
                      </a:pPr>
                      <a:r>
                        <a:rPr b="1" i="0" lang="en-US" sz="1200" u="none" cap="none" strike="noStrike">
                          <a:solidFill>
                            <a:srgbClr val="00FF9D"/>
                          </a:solidFill>
                          <a:latin typeface="Urbanist"/>
                          <a:ea typeface="Urbanist"/>
                          <a:cs typeface="Urbanist"/>
                          <a:sym typeface="Urbanist"/>
                        </a:rPr>
                        <a:t>Model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0FF9D"/>
                          </a:solidFill>
                          <a:latin typeface="Urbanist"/>
                          <a:ea typeface="Urbanist"/>
                          <a:cs typeface="Urbanist"/>
                          <a:sym typeface="Urbanist"/>
                        </a:rPr>
                        <a:t>RMSE (Train)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0FF9D"/>
                          </a:solidFill>
                          <a:latin typeface="Urbanist"/>
                          <a:ea typeface="Urbanist"/>
                          <a:cs typeface="Urbanist"/>
                          <a:sym typeface="Urbanist"/>
                        </a:rPr>
                        <a:t>RMSE (Validation)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200" u="none" cap="none" strike="noStrike">
                          <a:solidFill>
                            <a:srgbClr val="00FF9D"/>
                          </a:solidFill>
                          <a:latin typeface="Urbanist"/>
                          <a:ea typeface="Urbanist"/>
                          <a:cs typeface="Urbanist"/>
                          <a:sym typeface="Urbanist"/>
                        </a:rPr>
                        <a:t>R² (Test)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66075">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Linear Regression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1.2438</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1.2433</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0.5455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66075">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Decision Tree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0.8635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0.9324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0.7990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FFFFF"/>
                    </a:solidFill>
                  </a:tcPr>
                </a:tc>
              </a:tr>
              <a:tr h="566075">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Random Forest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0.4600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0.7882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0.8645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566075">
                <a:tc>
                  <a:txBody>
                    <a:bodyPr/>
                    <a:lstStyle/>
                    <a:p>
                      <a:pPr indent="0" lvl="0" marL="0" marR="0" rtl="0" algn="l">
                        <a:spcBef>
                          <a:spcPts val="0"/>
                        </a:spcBef>
                        <a:spcAft>
                          <a:spcPts val="0"/>
                        </a:spcAft>
                        <a:buNone/>
                      </a:pPr>
                      <a:r>
                        <a:rPr b="1" i="0" lang="en-US" sz="1350" u="none" cap="none" strike="noStrike">
                          <a:latin typeface="Urbanist"/>
                          <a:ea typeface="Urbanist"/>
                          <a:cs typeface="Urbanist"/>
                          <a:sym typeface="Urbanist"/>
                        </a:rPr>
                        <a:t>XGBoost (Best)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F9D"/>
                    </a:solidFill>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0.5739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F9D"/>
                    </a:solidFill>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0.7459</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F9D"/>
                    </a:solidFill>
                  </a:tcPr>
                </a:tc>
                <a:tc>
                  <a:txBody>
                    <a:bodyPr/>
                    <a:lstStyle/>
                    <a:p>
                      <a:pPr indent="0" lvl="0" marL="0" marR="0" rtl="0" algn="l">
                        <a:spcBef>
                          <a:spcPts val="0"/>
                        </a:spcBef>
                        <a:spcAft>
                          <a:spcPts val="0"/>
                        </a:spcAft>
                        <a:buNone/>
                      </a:pPr>
                      <a:r>
                        <a:rPr b="1" i="0" lang="en-US" sz="1350" u="none" cap="none" strike="noStrike">
                          <a:latin typeface="Urbanist"/>
                          <a:ea typeface="Urbanist"/>
                          <a:cs typeface="Urbanist"/>
                          <a:sym typeface="Urbanist"/>
                        </a:rPr>
                        <a:t>0.8807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00FF9D"/>
                    </a:solidFill>
                  </a:tcPr>
                </a:tc>
              </a:tr>
              <a:tr h="566075">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Neural Network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0.6032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0.6691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350" u="none" cap="none" strike="noStrike">
                          <a:latin typeface="Urbanist"/>
                          <a:ea typeface="Urbanist"/>
                          <a:cs typeface="Urbanist"/>
                          <a:sym typeface="Urbanist"/>
                        </a:rPr>
                        <a:t>0.8567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27" name="Google Shape;327;p28"/>
          <p:cNvSpPr txBox="1"/>
          <p:nvPr/>
        </p:nvSpPr>
        <p:spPr>
          <a:xfrm>
            <a:off x="581025" y="5528220"/>
            <a:ext cx="110299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Insight:</a:t>
            </a:r>
            <a:r>
              <a:rPr b="0" i="0" lang="en-US" sz="1350" u="none" cap="none" strike="noStrike">
                <a:solidFill>
                  <a:srgbClr val="A3A3A3"/>
                </a:solidFill>
                <a:latin typeface="Urbanist"/>
                <a:ea typeface="Urbanist"/>
                <a:cs typeface="Urbanist"/>
                <a:sym typeface="Urbanist"/>
              </a:rPr>
              <a:t> XGBoost memberikan keseimbangan terbaik (Best Trade-off) antara akurasi dan generalisasi dibandingkan model linear dan MLP.</a:t>
            </a:r>
            <a:endParaRPr/>
          </a:p>
        </p:txBody>
      </p:sp>
      <p:sp>
        <p:nvSpPr>
          <p:cNvPr id="328" name="Google Shape;328;p28"/>
          <p:cNvSpPr/>
          <p:nvPr/>
        </p:nvSpPr>
        <p:spPr>
          <a:xfrm>
            <a:off x="585787" y="2461319"/>
            <a:ext cx="3135213" cy="19050"/>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29" name="Google Shape;329;p28"/>
          <p:cNvSpPr/>
          <p:nvPr/>
        </p:nvSpPr>
        <p:spPr>
          <a:xfrm>
            <a:off x="3721000" y="2461319"/>
            <a:ext cx="2572047" cy="19050"/>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0" name="Google Shape;330;p28"/>
          <p:cNvSpPr/>
          <p:nvPr/>
        </p:nvSpPr>
        <p:spPr>
          <a:xfrm>
            <a:off x="6293048" y="2461319"/>
            <a:ext cx="3416796" cy="19050"/>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1" name="Google Shape;331;p28"/>
          <p:cNvSpPr/>
          <p:nvPr/>
        </p:nvSpPr>
        <p:spPr>
          <a:xfrm>
            <a:off x="9709844" y="2461319"/>
            <a:ext cx="1896367" cy="19050"/>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2" name="Google Shape;332;p28"/>
          <p:cNvSpPr/>
          <p:nvPr/>
        </p:nvSpPr>
        <p:spPr>
          <a:xfrm>
            <a:off x="585787" y="3045172"/>
            <a:ext cx="3135213"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3" name="Google Shape;333;p28"/>
          <p:cNvSpPr/>
          <p:nvPr/>
        </p:nvSpPr>
        <p:spPr>
          <a:xfrm>
            <a:off x="3721000" y="3045172"/>
            <a:ext cx="257204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4" name="Google Shape;334;p28"/>
          <p:cNvSpPr/>
          <p:nvPr/>
        </p:nvSpPr>
        <p:spPr>
          <a:xfrm>
            <a:off x="6293048" y="3045172"/>
            <a:ext cx="3416796"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5" name="Google Shape;335;p28"/>
          <p:cNvSpPr/>
          <p:nvPr/>
        </p:nvSpPr>
        <p:spPr>
          <a:xfrm>
            <a:off x="9709844" y="3045172"/>
            <a:ext cx="189636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6" name="Google Shape;336;p28"/>
          <p:cNvSpPr/>
          <p:nvPr/>
        </p:nvSpPr>
        <p:spPr>
          <a:xfrm>
            <a:off x="585787" y="3614737"/>
            <a:ext cx="3135213"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8"/>
          <p:cNvSpPr/>
          <p:nvPr/>
        </p:nvSpPr>
        <p:spPr>
          <a:xfrm>
            <a:off x="3721000" y="3614737"/>
            <a:ext cx="257204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8"/>
          <p:cNvSpPr/>
          <p:nvPr/>
        </p:nvSpPr>
        <p:spPr>
          <a:xfrm>
            <a:off x="6293048" y="3614737"/>
            <a:ext cx="3416796"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8"/>
          <p:cNvSpPr/>
          <p:nvPr/>
        </p:nvSpPr>
        <p:spPr>
          <a:xfrm>
            <a:off x="9709844" y="3614737"/>
            <a:ext cx="189636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8"/>
          <p:cNvSpPr/>
          <p:nvPr/>
        </p:nvSpPr>
        <p:spPr>
          <a:xfrm>
            <a:off x="585787" y="4184302"/>
            <a:ext cx="3135213"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8"/>
          <p:cNvSpPr/>
          <p:nvPr/>
        </p:nvSpPr>
        <p:spPr>
          <a:xfrm>
            <a:off x="3721000" y="4184302"/>
            <a:ext cx="257204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8"/>
          <p:cNvSpPr/>
          <p:nvPr/>
        </p:nvSpPr>
        <p:spPr>
          <a:xfrm>
            <a:off x="6293048" y="4184302"/>
            <a:ext cx="3416796"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8"/>
          <p:cNvSpPr/>
          <p:nvPr/>
        </p:nvSpPr>
        <p:spPr>
          <a:xfrm>
            <a:off x="9709844" y="4184302"/>
            <a:ext cx="189636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8"/>
          <p:cNvSpPr/>
          <p:nvPr/>
        </p:nvSpPr>
        <p:spPr>
          <a:xfrm>
            <a:off x="585787" y="4753867"/>
            <a:ext cx="3135213"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8"/>
          <p:cNvSpPr/>
          <p:nvPr/>
        </p:nvSpPr>
        <p:spPr>
          <a:xfrm>
            <a:off x="3721000" y="4753867"/>
            <a:ext cx="257204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8"/>
          <p:cNvSpPr/>
          <p:nvPr/>
        </p:nvSpPr>
        <p:spPr>
          <a:xfrm>
            <a:off x="6293048" y="4753867"/>
            <a:ext cx="3416796"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8"/>
          <p:cNvSpPr/>
          <p:nvPr/>
        </p:nvSpPr>
        <p:spPr>
          <a:xfrm>
            <a:off x="9709844" y="4753867"/>
            <a:ext cx="189636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8"/>
          <p:cNvSpPr/>
          <p:nvPr/>
        </p:nvSpPr>
        <p:spPr>
          <a:xfrm>
            <a:off x="585787" y="5323433"/>
            <a:ext cx="3135213"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8"/>
          <p:cNvSpPr/>
          <p:nvPr/>
        </p:nvSpPr>
        <p:spPr>
          <a:xfrm>
            <a:off x="3721000" y="5323433"/>
            <a:ext cx="257204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8"/>
          <p:cNvSpPr/>
          <p:nvPr/>
        </p:nvSpPr>
        <p:spPr>
          <a:xfrm>
            <a:off x="6293048" y="5323433"/>
            <a:ext cx="3416796"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8"/>
          <p:cNvSpPr/>
          <p:nvPr/>
        </p:nvSpPr>
        <p:spPr>
          <a:xfrm>
            <a:off x="9709844" y="5323433"/>
            <a:ext cx="1896367" cy="9525"/>
          </a:xfrm>
          <a:prstGeom prst="rect">
            <a:avLst/>
          </a:prstGeom>
          <a:solidFill>
            <a:srgbClr val="33333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2" name="Google Shape;352;p28"/>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Hasil Eksperimen: Perbandingan Model</a:t>
            </a:r>
            <a:endParaRPr/>
          </a:p>
        </p:txBody>
      </p:sp>
      <p:sp>
        <p:nvSpPr>
          <p:cNvPr id="353" name="Google Shape;353;p28"/>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57" name="Shape 357"/>
        <p:cNvGrpSpPr/>
        <p:nvPr/>
      </p:nvGrpSpPr>
      <p:grpSpPr>
        <a:xfrm>
          <a:off x="0" y="0"/>
          <a:ext cx="0" cy="0"/>
          <a:chOff x="0" y="0"/>
          <a:chExt cx="0" cy="0"/>
        </a:xfrm>
      </p:grpSpPr>
      <p:pic>
        <p:nvPicPr>
          <p:cNvPr descr="image.png" id="358" name="Google Shape;358;p2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359" name="Google Shape;359;p29"/>
          <p:cNvSpPr txBox="1"/>
          <p:nvPr/>
        </p:nvSpPr>
        <p:spPr>
          <a:xfrm>
            <a:off x="962025" y="1615529"/>
            <a:ext cx="4590573" cy="9715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Visualisasi Hasil (XGBoost)</a:t>
            </a:r>
            <a:endParaRPr/>
          </a:p>
        </p:txBody>
      </p:sp>
      <p:sp>
        <p:nvSpPr>
          <p:cNvPr id="360" name="Google Shape;360;p29"/>
          <p:cNvSpPr/>
          <p:nvPr/>
        </p:nvSpPr>
        <p:spPr>
          <a:xfrm>
            <a:off x="771525" y="1615529"/>
            <a:ext cx="47625" cy="971550"/>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61" name="Google Shape;361;p29"/>
          <p:cNvSpPr txBox="1"/>
          <p:nvPr/>
        </p:nvSpPr>
        <p:spPr>
          <a:xfrm>
            <a:off x="771525" y="3139529"/>
            <a:ext cx="45624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Plot prediksi vs nilai aktual menunjukkan bahwa mayoritas titik data berada di sekitar garis diagonal, menandakan prediksi yang akurat.</a:t>
            </a:r>
            <a:endParaRPr/>
          </a:p>
        </p:txBody>
      </p:sp>
      <p:sp>
        <p:nvSpPr>
          <p:cNvPr id="362" name="Google Shape;362;p29"/>
          <p:cNvSpPr txBox="1"/>
          <p:nvPr/>
        </p:nvSpPr>
        <p:spPr>
          <a:xfrm>
            <a:off x="771525" y="4305300"/>
            <a:ext cx="4562475" cy="82287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Residual Analysis:</a:t>
            </a:r>
            <a:r>
              <a:rPr b="0" i="0" lang="en-US" sz="1350" u="none" cap="none" strike="noStrike">
                <a:solidFill>
                  <a:srgbClr val="A3A3A3"/>
                </a:solidFill>
                <a:latin typeface="Urbanist"/>
                <a:ea typeface="Urbanist"/>
                <a:cs typeface="Urbanist"/>
                <a:sym typeface="Urbanist"/>
              </a:rPr>
              <a:t> Distribusi error terpusat di nol, mengindikasikan model tidak bias ke arah tertentu, meskipun terdapat variansi pada game dengan popularitas ekstrem.</a:t>
            </a:r>
            <a:endParaRPr/>
          </a:p>
        </p:txBody>
      </p:sp>
      <p:pic>
        <p:nvPicPr>
          <p:cNvPr id="363" name="Google Shape;363;p29" title="download (2).png"/>
          <p:cNvPicPr preferRelativeResize="0"/>
          <p:nvPr/>
        </p:nvPicPr>
        <p:blipFill rotWithShape="1">
          <a:blip r:embed="rId4">
            <a:alphaModFix/>
          </a:blip>
          <a:srcRect b="2690" l="0" r="52082" t="-2690"/>
          <a:stretch/>
        </p:blipFill>
        <p:spPr>
          <a:xfrm>
            <a:off x="6096000" y="9525"/>
            <a:ext cx="6086474" cy="68580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67" name="Shape 367"/>
        <p:cNvGrpSpPr/>
        <p:nvPr/>
      </p:nvGrpSpPr>
      <p:grpSpPr>
        <a:xfrm>
          <a:off x="0" y="0"/>
          <a:ext cx="0" cy="0"/>
          <a:chOff x="0" y="0"/>
          <a:chExt cx="0" cy="0"/>
        </a:xfrm>
      </p:grpSpPr>
      <p:pic>
        <p:nvPicPr>
          <p:cNvPr descr="image.png" id="368" name="Google Shape;368;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69" name="Google Shape;369;p30"/>
          <p:cNvPicPr preferRelativeResize="0"/>
          <p:nvPr/>
        </p:nvPicPr>
        <p:blipFill rotWithShape="1">
          <a:blip r:embed="rId4">
            <a:alphaModFix/>
          </a:blip>
          <a:srcRect b="0" l="0" r="0" t="0"/>
          <a:stretch/>
        </p:blipFill>
        <p:spPr>
          <a:xfrm>
            <a:off x="581025" y="1447800"/>
            <a:ext cx="11029950" cy="4829175"/>
          </a:xfrm>
          <a:prstGeom prst="rect">
            <a:avLst/>
          </a:prstGeom>
          <a:noFill/>
          <a:ln>
            <a:noFill/>
          </a:ln>
        </p:spPr>
      </p:pic>
      <p:sp>
        <p:nvSpPr>
          <p:cNvPr id="370" name="Google Shape;370;p30"/>
          <p:cNvSpPr txBox="1"/>
          <p:nvPr/>
        </p:nvSpPr>
        <p:spPr>
          <a:xfrm>
            <a:off x="581025" y="4734817"/>
            <a:ext cx="11029950"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Faktor Komunitas &amp; Ekosistem</a:t>
            </a:r>
            <a:r>
              <a:rPr b="0" i="0" lang="en-US" sz="1350" u="none" cap="none" strike="noStrike">
                <a:solidFill>
                  <a:srgbClr val="A3A3A3"/>
                </a:solidFill>
                <a:latin typeface="Urbanist"/>
                <a:ea typeface="Urbanist"/>
                <a:cs typeface="Urbanist"/>
                <a:sym typeface="Urbanist"/>
              </a:rPr>
              <a:t> (Trading Cards, Reviews) lebih berpengaruh daripada sekadar skor kritik.</a:t>
            </a:r>
            <a:endParaRPr/>
          </a:p>
        </p:txBody>
      </p:sp>
      <p:sp>
        <p:nvSpPr>
          <p:cNvPr id="371" name="Google Shape;371;p30"/>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Faktor Penentu Popularitas</a:t>
            </a:r>
            <a:endParaRPr/>
          </a:p>
        </p:txBody>
      </p:sp>
      <p:sp>
        <p:nvSpPr>
          <p:cNvPr id="372" name="Google Shape;372;p30"/>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76" name="Shape 376"/>
        <p:cNvGrpSpPr/>
        <p:nvPr/>
      </p:nvGrpSpPr>
      <p:grpSpPr>
        <a:xfrm>
          <a:off x="0" y="0"/>
          <a:ext cx="0" cy="0"/>
          <a:chOff x="0" y="0"/>
          <a:chExt cx="0" cy="0"/>
        </a:xfrm>
      </p:grpSpPr>
      <p:pic>
        <p:nvPicPr>
          <p:cNvPr descr="image.png" id="377" name="Google Shape;377;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78" name="Google Shape;378;p31"/>
          <p:cNvPicPr preferRelativeResize="0"/>
          <p:nvPr/>
        </p:nvPicPr>
        <p:blipFill rotWithShape="1">
          <a:blip r:embed="rId4">
            <a:alphaModFix/>
          </a:blip>
          <a:srcRect b="0" l="0" r="0" t="0"/>
          <a:stretch/>
        </p:blipFill>
        <p:spPr>
          <a:xfrm>
            <a:off x="581025" y="2289869"/>
            <a:ext cx="3486150" cy="3145035"/>
          </a:xfrm>
          <a:prstGeom prst="rect">
            <a:avLst/>
          </a:prstGeom>
          <a:noFill/>
          <a:ln>
            <a:noFill/>
          </a:ln>
        </p:spPr>
      </p:pic>
      <p:pic>
        <p:nvPicPr>
          <p:cNvPr descr="image.png" id="379" name="Google Shape;379;p31"/>
          <p:cNvPicPr preferRelativeResize="0"/>
          <p:nvPr/>
        </p:nvPicPr>
        <p:blipFill rotWithShape="1">
          <a:blip r:embed="rId5">
            <a:alphaModFix/>
          </a:blip>
          <a:srcRect b="0" l="0" r="0" t="0"/>
          <a:stretch/>
        </p:blipFill>
        <p:spPr>
          <a:xfrm>
            <a:off x="4352925" y="2289869"/>
            <a:ext cx="3486150" cy="3145035"/>
          </a:xfrm>
          <a:prstGeom prst="rect">
            <a:avLst/>
          </a:prstGeom>
          <a:noFill/>
          <a:ln>
            <a:noFill/>
          </a:ln>
        </p:spPr>
      </p:pic>
      <p:pic>
        <p:nvPicPr>
          <p:cNvPr descr="image.png" id="380" name="Google Shape;380;p31"/>
          <p:cNvPicPr preferRelativeResize="0"/>
          <p:nvPr/>
        </p:nvPicPr>
        <p:blipFill rotWithShape="1">
          <a:blip r:embed="rId6">
            <a:alphaModFix/>
          </a:blip>
          <a:srcRect b="0" l="0" r="0" t="0"/>
          <a:stretch/>
        </p:blipFill>
        <p:spPr>
          <a:xfrm>
            <a:off x="8124825" y="2289869"/>
            <a:ext cx="3486150" cy="3145035"/>
          </a:xfrm>
          <a:prstGeom prst="rect">
            <a:avLst/>
          </a:prstGeom>
          <a:noFill/>
          <a:ln>
            <a:noFill/>
          </a:ln>
        </p:spPr>
      </p:pic>
      <p:sp>
        <p:nvSpPr>
          <p:cNvPr id="381" name="Google Shape;381;p31"/>
          <p:cNvSpPr txBox="1"/>
          <p:nvPr/>
        </p:nvSpPr>
        <p:spPr>
          <a:xfrm>
            <a:off x="1497590" y="3328094"/>
            <a:ext cx="1653019"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Optimasi Harga</a:t>
            </a:r>
            <a:endParaRPr/>
          </a:p>
        </p:txBody>
      </p:sp>
      <p:sp>
        <p:nvSpPr>
          <p:cNvPr id="382" name="Google Shape;382;p31"/>
          <p:cNvSpPr txBox="1"/>
          <p:nvPr/>
        </p:nvSpPr>
        <p:spPr>
          <a:xfrm>
            <a:off x="876300" y="3871019"/>
            <a:ext cx="289560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Harga terlalu tinggi menghambat adopsi. Sistem menyarankan harga kompetitif atau diskon awal untuk game baru.</a:t>
            </a:r>
            <a:endParaRPr/>
          </a:p>
        </p:txBody>
      </p:sp>
      <p:sp>
        <p:nvSpPr>
          <p:cNvPr id="383" name="Google Shape;383;p31"/>
          <p:cNvSpPr txBox="1"/>
          <p:nvPr/>
        </p:nvSpPr>
        <p:spPr>
          <a:xfrm>
            <a:off x="5226828" y="3328094"/>
            <a:ext cx="1738342"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Kombinasi Genre</a:t>
            </a:r>
            <a:endParaRPr/>
          </a:p>
        </p:txBody>
      </p:sp>
      <p:sp>
        <p:nvSpPr>
          <p:cNvPr id="384" name="Google Shape;384;p31"/>
          <p:cNvSpPr txBox="1"/>
          <p:nvPr/>
        </p:nvSpPr>
        <p:spPr>
          <a:xfrm>
            <a:off x="4648200" y="3871019"/>
            <a:ext cx="289560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Multi-genre lebih efektif. Disarankan menggabungkan genre utama dengan elemen sosial (mis: Multiplayer).</a:t>
            </a:r>
            <a:endParaRPr/>
          </a:p>
        </p:txBody>
      </p:sp>
      <p:sp>
        <p:nvSpPr>
          <p:cNvPr id="385" name="Google Shape;385;p31"/>
          <p:cNvSpPr txBox="1"/>
          <p:nvPr/>
        </p:nvSpPr>
        <p:spPr>
          <a:xfrm>
            <a:off x="9416909" y="3328094"/>
            <a:ext cx="901831" cy="2762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800" u="none" cap="none" strike="noStrike">
                <a:solidFill>
                  <a:srgbClr val="00FF9D"/>
                </a:solidFill>
                <a:latin typeface="Urbanist"/>
                <a:ea typeface="Urbanist"/>
                <a:cs typeface="Urbanist"/>
                <a:sym typeface="Urbanist"/>
              </a:rPr>
              <a:t>Platform</a:t>
            </a:r>
            <a:endParaRPr/>
          </a:p>
        </p:txBody>
      </p:sp>
      <p:sp>
        <p:nvSpPr>
          <p:cNvPr id="386" name="Google Shape;386;p31"/>
          <p:cNvSpPr txBox="1"/>
          <p:nvPr/>
        </p:nvSpPr>
        <p:spPr>
          <a:xfrm>
            <a:off x="8420100" y="3871019"/>
            <a:ext cx="2895600" cy="10971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Game dengan dukungan multi-platform (Windows + Mac/Linux) memiliki rata-rata popularitas lebih tinggi.</a:t>
            </a:r>
            <a:endParaRPr/>
          </a:p>
        </p:txBody>
      </p:sp>
      <p:pic>
        <p:nvPicPr>
          <p:cNvPr descr="image.png" id="387" name="Google Shape;387;p31"/>
          <p:cNvPicPr preferRelativeResize="0"/>
          <p:nvPr/>
        </p:nvPicPr>
        <p:blipFill rotWithShape="1">
          <a:blip r:embed="rId7">
            <a:alphaModFix/>
          </a:blip>
          <a:srcRect b="0" l="0" r="0" t="0"/>
          <a:stretch/>
        </p:blipFill>
        <p:spPr>
          <a:xfrm>
            <a:off x="2095500" y="2623244"/>
            <a:ext cx="457200" cy="457200"/>
          </a:xfrm>
          <a:prstGeom prst="rect">
            <a:avLst/>
          </a:prstGeom>
          <a:noFill/>
          <a:ln>
            <a:noFill/>
          </a:ln>
        </p:spPr>
      </p:pic>
      <p:pic>
        <p:nvPicPr>
          <p:cNvPr descr="image.png" id="388" name="Google Shape;388;p31"/>
          <p:cNvPicPr preferRelativeResize="0"/>
          <p:nvPr/>
        </p:nvPicPr>
        <p:blipFill rotWithShape="1">
          <a:blip r:embed="rId8">
            <a:alphaModFix/>
          </a:blip>
          <a:srcRect b="0" l="0" r="0" t="0"/>
          <a:stretch/>
        </p:blipFill>
        <p:spPr>
          <a:xfrm>
            <a:off x="5838825" y="2623244"/>
            <a:ext cx="514350" cy="457200"/>
          </a:xfrm>
          <a:prstGeom prst="rect">
            <a:avLst/>
          </a:prstGeom>
          <a:noFill/>
          <a:ln>
            <a:noFill/>
          </a:ln>
        </p:spPr>
      </p:pic>
      <p:pic>
        <p:nvPicPr>
          <p:cNvPr descr="image.png" id="389" name="Google Shape;389;p31"/>
          <p:cNvPicPr preferRelativeResize="0"/>
          <p:nvPr/>
        </p:nvPicPr>
        <p:blipFill rotWithShape="1">
          <a:blip r:embed="rId9">
            <a:alphaModFix/>
          </a:blip>
          <a:srcRect b="0" l="0" r="0" t="0"/>
          <a:stretch/>
        </p:blipFill>
        <p:spPr>
          <a:xfrm>
            <a:off x="9667875" y="2623244"/>
            <a:ext cx="400050" cy="457200"/>
          </a:xfrm>
          <a:prstGeom prst="rect">
            <a:avLst/>
          </a:prstGeom>
          <a:noFill/>
          <a:ln>
            <a:noFill/>
          </a:ln>
        </p:spPr>
      </p:pic>
      <p:sp>
        <p:nvSpPr>
          <p:cNvPr id="390" name="Google Shape;390;p31"/>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Sistem Rekomendasi Pintar</a:t>
            </a:r>
            <a:endParaRPr/>
          </a:p>
        </p:txBody>
      </p:sp>
      <p:sp>
        <p:nvSpPr>
          <p:cNvPr id="391" name="Google Shape;391;p31"/>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395" name="Shape 395"/>
        <p:cNvGrpSpPr/>
        <p:nvPr/>
      </p:nvGrpSpPr>
      <p:grpSpPr>
        <a:xfrm>
          <a:off x="0" y="0"/>
          <a:ext cx="0" cy="0"/>
          <a:chOff x="0" y="0"/>
          <a:chExt cx="0" cy="0"/>
        </a:xfrm>
      </p:grpSpPr>
      <p:pic>
        <p:nvPicPr>
          <p:cNvPr descr="image.png" id="396" name="Google Shape;396;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97" name="Google Shape;397;p32"/>
          <p:cNvPicPr preferRelativeResize="0"/>
          <p:nvPr/>
        </p:nvPicPr>
        <p:blipFill rotWithShape="1">
          <a:blip r:embed="rId4">
            <a:alphaModFix/>
          </a:blip>
          <a:srcRect b="0" l="0" r="0" t="0"/>
          <a:stretch/>
        </p:blipFill>
        <p:spPr>
          <a:xfrm>
            <a:off x="6381750" y="2090737"/>
            <a:ext cx="5229225" cy="1409700"/>
          </a:xfrm>
          <a:prstGeom prst="rect">
            <a:avLst/>
          </a:prstGeom>
          <a:noFill/>
          <a:ln>
            <a:noFill/>
          </a:ln>
        </p:spPr>
      </p:pic>
      <p:sp>
        <p:nvSpPr>
          <p:cNvPr id="398" name="Google Shape;398;p32"/>
          <p:cNvSpPr txBox="1"/>
          <p:nvPr/>
        </p:nvSpPr>
        <p:spPr>
          <a:xfrm>
            <a:off x="581025" y="2647950"/>
            <a:ext cx="5490686" cy="2762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800" u="none" cap="none" strike="noStrike">
                <a:solidFill>
                  <a:srgbClr val="00FF9D"/>
                </a:solidFill>
                <a:latin typeface="Urbanist"/>
                <a:ea typeface="Urbanist"/>
                <a:cs typeface="Urbanist"/>
                <a:sym typeface="Urbanist"/>
              </a:rPr>
              <a:t>Struktur Paket CLI</a:t>
            </a:r>
            <a:endParaRPr/>
          </a:p>
        </p:txBody>
      </p:sp>
      <p:sp>
        <p:nvSpPr>
          <p:cNvPr id="399" name="Google Shape;399;p32"/>
          <p:cNvSpPr txBox="1"/>
          <p:nvPr/>
        </p:nvSpPr>
        <p:spPr>
          <a:xfrm>
            <a:off x="581025" y="3095625"/>
            <a:ext cx="5229225" cy="54858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Sistem di-deploy dalam bentuk Command Line Interface (CLI) yang ringan dan modular.</a:t>
            </a:r>
            <a:endParaRPr/>
          </a:p>
        </p:txBody>
      </p:sp>
      <p:pic>
        <p:nvPicPr>
          <p:cNvPr id="400" name="Google Shape;400;p32" title="WhatsApp Image 2025-12-21 at 21.22.10.jpeg"/>
          <p:cNvPicPr preferRelativeResize="0"/>
          <p:nvPr/>
        </p:nvPicPr>
        <p:blipFill rotWithShape="1">
          <a:blip r:embed="rId5">
            <a:alphaModFix/>
          </a:blip>
          <a:srcRect b="59226" l="0" r="7986" t="0"/>
          <a:stretch/>
        </p:blipFill>
        <p:spPr>
          <a:xfrm>
            <a:off x="6381750" y="3690925"/>
            <a:ext cx="5229226" cy="1905000"/>
          </a:xfrm>
          <a:prstGeom prst="rect">
            <a:avLst/>
          </a:prstGeom>
          <a:noFill/>
          <a:ln>
            <a:noFill/>
          </a:ln>
        </p:spPr>
      </p:pic>
      <p:sp>
        <p:nvSpPr>
          <p:cNvPr id="401" name="Google Shape;401;p32"/>
          <p:cNvSpPr txBox="1"/>
          <p:nvPr/>
        </p:nvSpPr>
        <p:spPr>
          <a:xfrm>
            <a:off x="866775" y="3815655"/>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predictor.py:</a:t>
            </a:r>
            <a:r>
              <a:rPr b="0" i="0" lang="en-US" sz="1350" u="none" cap="none" strike="noStrike">
                <a:solidFill>
                  <a:srgbClr val="A3A3A3"/>
                </a:solidFill>
                <a:latin typeface="Urbanist"/>
                <a:ea typeface="Urbanist"/>
                <a:cs typeface="Urbanist"/>
                <a:sym typeface="Urbanist"/>
              </a:rPr>
              <a:t> Skrip inferensi utama.</a:t>
            </a:r>
            <a:endParaRPr/>
          </a:p>
        </p:txBody>
      </p:sp>
      <p:sp>
        <p:nvSpPr>
          <p:cNvPr id="402" name="Google Shape;402;p32"/>
          <p:cNvSpPr txBox="1"/>
          <p:nvPr/>
        </p:nvSpPr>
        <p:spPr>
          <a:xfrm>
            <a:off x="866775" y="4232820"/>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config.json:</a:t>
            </a:r>
            <a:r>
              <a:rPr b="0" i="0" lang="en-US" sz="1350" u="none" cap="none" strike="noStrike">
                <a:solidFill>
                  <a:srgbClr val="A3A3A3"/>
                </a:solidFill>
                <a:latin typeface="Urbanist"/>
                <a:ea typeface="Urbanist"/>
                <a:cs typeface="Urbanist"/>
                <a:sym typeface="Urbanist"/>
              </a:rPr>
              <a:t> Konfigurasi fitur.</a:t>
            </a:r>
            <a:endParaRPr/>
          </a:p>
        </p:txBody>
      </p:sp>
      <p:sp>
        <p:nvSpPr>
          <p:cNvPr id="403" name="Google Shape;403;p32"/>
          <p:cNvSpPr txBox="1"/>
          <p:nvPr/>
        </p:nvSpPr>
        <p:spPr>
          <a:xfrm>
            <a:off x="866775" y="4649985"/>
            <a:ext cx="4943475" cy="27429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350" u="none" cap="none" strike="noStrike">
                <a:solidFill>
                  <a:srgbClr val="A3A3A3"/>
                </a:solidFill>
                <a:latin typeface="Urbanist"/>
                <a:ea typeface="Urbanist"/>
                <a:cs typeface="Urbanist"/>
                <a:sym typeface="Urbanist"/>
              </a:rPr>
              <a:t>xgboost_model.pkl:</a:t>
            </a:r>
            <a:r>
              <a:rPr b="0" i="0" lang="en-US" sz="1350" u="none" cap="none" strike="noStrike">
                <a:solidFill>
                  <a:srgbClr val="A3A3A3"/>
                </a:solidFill>
                <a:latin typeface="Urbanist"/>
                <a:ea typeface="Urbanist"/>
                <a:cs typeface="Urbanist"/>
                <a:sym typeface="Urbanist"/>
              </a:rPr>
              <a:t> Model terlatih.</a:t>
            </a:r>
            <a:endParaRPr/>
          </a:p>
        </p:txBody>
      </p:sp>
      <p:sp>
        <p:nvSpPr>
          <p:cNvPr id="404" name="Google Shape;404;p32"/>
          <p:cNvSpPr txBox="1"/>
          <p:nvPr/>
        </p:nvSpPr>
        <p:spPr>
          <a:xfrm>
            <a:off x="771525" y="581025"/>
            <a:ext cx="11381422" cy="48577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Implementasi &amp; Deployment</a:t>
            </a:r>
            <a:endParaRPr/>
          </a:p>
        </p:txBody>
      </p:sp>
      <p:sp>
        <p:nvSpPr>
          <p:cNvPr id="405" name="Google Shape;405;p32"/>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06" name="Google Shape;406;p32"/>
          <p:cNvPicPr preferRelativeResize="0"/>
          <p:nvPr/>
        </p:nvPicPr>
        <p:blipFill rotWithShape="1">
          <a:blip r:embed="rId6">
            <a:alphaModFix/>
          </a:blip>
          <a:srcRect b="0" l="0" r="0" t="0"/>
          <a:stretch/>
        </p:blipFill>
        <p:spPr>
          <a:xfrm>
            <a:off x="581025" y="3853755"/>
            <a:ext cx="85725" cy="142875"/>
          </a:xfrm>
          <a:prstGeom prst="rect">
            <a:avLst/>
          </a:prstGeom>
          <a:noFill/>
          <a:ln>
            <a:noFill/>
          </a:ln>
        </p:spPr>
      </p:pic>
      <p:pic>
        <p:nvPicPr>
          <p:cNvPr descr="image.png" id="407" name="Google Shape;407;p32"/>
          <p:cNvPicPr preferRelativeResize="0"/>
          <p:nvPr/>
        </p:nvPicPr>
        <p:blipFill rotWithShape="1">
          <a:blip r:embed="rId6">
            <a:alphaModFix/>
          </a:blip>
          <a:srcRect b="0" l="0" r="0" t="0"/>
          <a:stretch/>
        </p:blipFill>
        <p:spPr>
          <a:xfrm>
            <a:off x="581025" y="4270920"/>
            <a:ext cx="85725" cy="142875"/>
          </a:xfrm>
          <a:prstGeom prst="rect">
            <a:avLst/>
          </a:prstGeom>
          <a:noFill/>
          <a:ln>
            <a:noFill/>
          </a:ln>
        </p:spPr>
      </p:pic>
      <p:pic>
        <p:nvPicPr>
          <p:cNvPr descr="image.png" id="408" name="Google Shape;408;p32"/>
          <p:cNvPicPr preferRelativeResize="0"/>
          <p:nvPr/>
        </p:nvPicPr>
        <p:blipFill rotWithShape="1">
          <a:blip r:embed="rId6">
            <a:alphaModFix/>
          </a:blip>
          <a:srcRect b="0" l="0" r="0" t="0"/>
          <a:stretch/>
        </p:blipFill>
        <p:spPr>
          <a:xfrm>
            <a:off x="581025" y="4688085"/>
            <a:ext cx="85725" cy="142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12" name="Shape 412"/>
        <p:cNvGrpSpPr/>
        <p:nvPr/>
      </p:nvGrpSpPr>
      <p:grpSpPr>
        <a:xfrm>
          <a:off x="0" y="0"/>
          <a:ext cx="0" cy="0"/>
          <a:chOff x="0" y="0"/>
          <a:chExt cx="0" cy="0"/>
        </a:xfrm>
      </p:grpSpPr>
      <p:pic>
        <p:nvPicPr>
          <p:cNvPr descr="image.png" id="413" name="Google Shape;413;p33"/>
          <p:cNvPicPr preferRelativeResize="0"/>
          <p:nvPr/>
        </p:nvPicPr>
        <p:blipFill rotWithShape="1">
          <a:blip r:embed="rId3">
            <a:alphaModFix/>
          </a:blip>
          <a:srcRect b="0" l="0" r="0" t="0"/>
          <a:stretch/>
        </p:blipFill>
        <p:spPr>
          <a:xfrm>
            <a:off x="1533525" y="85900"/>
            <a:ext cx="10500976" cy="6858000"/>
          </a:xfrm>
          <a:prstGeom prst="rect">
            <a:avLst/>
          </a:prstGeom>
          <a:noFill/>
          <a:ln>
            <a:noFill/>
          </a:ln>
        </p:spPr>
      </p:pic>
      <p:sp>
        <p:nvSpPr>
          <p:cNvPr id="414" name="Google Shape;414;p33"/>
          <p:cNvSpPr txBox="1"/>
          <p:nvPr/>
        </p:nvSpPr>
        <p:spPr>
          <a:xfrm>
            <a:off x="771525" y="1350250"/>
            <a:ext cx="10322700" cy="4973400"/>
          </a:xfrm>
          <a:prstGeom prst="rect">
            <a:avLst/>
          </a:prstGeom>
          <a:noFill/>
          <a:ln>
            <a:noFill/>
          </a:ln>
        </p:spPr>
        <p:txBody>
          <a:bodyPr anchorCtr="0" anchor="t" bIns="0" lIns="0" spcFirstLastPara="1" rIns="0" wrap="square" tIns="0">
            <a:spAutoFit/>
          </a:bodyPr>
          <a:lstStyle/>
          <a:p>
            <a:pPr indent="0" lvl="0" marL="0" rtl="0" algn="l">
              <a:lnSpc>
                <a:spcPct val="159952"/>
              </a:lnSpc>
              <a:spcBef>
                <a:spcPts val="0"/>
              </a:spcBef>
              <a:spcAft>
                <a:spcPts val="0"/>
              </a:spcAft>
              <a:buClr>
                <a:schemeClr val="dk1"/>
              </a:buClr>
              <a:buSzPts val="1100"/>
              <a:buFont typeface="Arial"/>
              <a:buNone/>
            </a:pPr>
            <a:r>
              <a:rPr lang="en-US" sz="1600">
                <a:solidFill>
                  <a:srgbClr val="FFFFFF"/>
                </a:solidFill>
                <a:latin typeface="Urbanist"/>
                <a:ea typeface="Urbanist"/>
                <a:cs typeface="Urbanist"/>
                <a:sym typeface="Urbanist"/>
              </a:rPr>
              <a:t>Pendekatan Artificial Intelligence terbukti efektif dalam memprediksi keberhasilan game di pasar Steam dengan memanfaatkan data historis secara komprehensif. Model XGBoost menunjukkan performa terbaik dengan nilai R² sebesar 0,88, sehingga mampu memberikan keseimbangan optimal antara akurasi dan kemampuan generalisasi dibandingkan model lain.</a:t>
            </a:r>
            <a:endParaRPr sz="1600">
              <a:solidFill>
                <a:srgbClr val="FFFFFF"/>
              </a:solidFill>
              <a:latin typeface="Urbanist"/>
              <a:ea typeface="Urbanist"/>
              <a:cs typeface="Urbanist"/>
              <a:sym typeface="Urbanist"/>
            </a:endParaRPr>
          </a:p>
          <a:p>
            <a:pPr indent="0" lvl="0" marL="0" rtl="0" algn="l">
              <a:lnSpc>
                <a:spcPct val="159952"/>
              </a:lnSpc>
              <a:spcBef>
                <a:spcPts val="0"/>
              </a:spcBef>
              <a:spcAft>
                <a:spcPts val="0"/>
              </a:spcAft>
              <a:buClr>
                <a:schemeClr val="dk1"/>
              </a:buClr>
              <a:buSzPts val="1100"/>
              <a:buFont typeface="Arial"/>
              <a:buNone/>
            </a:pPr>
            <a:r>
              <a:t/>
            </a:r>
            <a:endParaRPr sz="1600">
              <a:solidFill>
                <a:srgbClr val="FFFFFF"/>
              </a:solidFill>
              <a:latin typeface="Urbanist"/>
              <a:ea typeface="Urbanist"/>
              <a:cs typeface="Urbanist"/>
              <a:sym typeface="Urbanist"/>
            </a:endParaRPr>
          </a:p>
          <a:p>
            <a:pPr indent="0" lvl="0" marL="0" rtl="0" algn="l">
              <a:lnSpc>
                <a:spcPct val="159952"/>
              </a:lnSpc>
              <a:spcBef>
                <a:spcPts val="0"/>
              </a:spcBef>
              <a:spcAft>
                <a:spcPts val="0"/>
              </a:spcAft>
              <a:buClr>
                <a:schemeClr val="dk1"/>
              </a:buClr>
              <a:buSzPts val="1100"/>
              <a:buFont typeface="Arial"/>
              <a:buNone/>
            </a:pPr>
            <a:r>
              <a:rPr lang="en-US" sz="1600">
                <a:solidFill>
                  <a:srgbClr val="FFFFFF"/>
                </a:solidFill>
                <a:latin typeface="Urbanist"/>
                <a:ea typeface="Urbanist"/>
                <a:cs typeface="Urbanist"/>
                <a:sym typeface="Urbanist"/>
              </a:rPr>
              <a:t>Hasil analisis juga menunjukkan bahwa faktor interaksi komunitas dan ekosistem, seperti review, trading cards, dan engagement pemain, memiliki pengaruh yang lebih signifikan terhadap popularitas game dibandingkan atribut statis seperti genre atau skor kritik semata.</a:t>
            </a:r>
            <a:endParaRPr sz="1600">
              <a:solidFill>
                <a:srgbClr val="FFFFFF"/>
              </a:solidFill>
              <a:latin typeface="Urbanist"/>
              <a:ea typeface="Urbanist"/>
              <a:cs typeface="Urbanist"/>
              <a:sym typeface="Urbanist"/>
            </a:endParaRPr>
          </a:p>
          <a:p>
            <a:pPr indent="0" lvl="0" marL="0" rtl="0" algn="l">
              <a:lnSpc>
                <a:spcPct val="159952"/>
              </a:lnSpc>
              <a:spcBef>
                <a:spcPts val="0"/>
              </a:spcBef>
              <a:spcAft>
                <a:spcPts val="0"/>
              </a:spcAft>
              <a:buClr>
                <a:schemeClr val="dk1"/>
              </a:buClr>
              <a:buSzPts val="1100"/>
              <a:buFont typeface="Arial"/>
              <a:buNone/>
            </a:pPr>
            <a:r>
              <a:t/>
            </a:r>
            <a:endParaRPr sz="1600">
              <a:solidFill>
                <a:srgbClr val="FFFFFF"/>
              </a:solidFill>
              <a:latin typeface="Urbanist"/>
              <a:ea typeface="Urbanist"/>
              <a:cs typeface="Urbanist"/>
              <a:sym typeface="Urbanist"/>
            </a:endParaRPr>
          </a:p>
          <a:p>
            <a:pPr indent="0" lvl="0" marL="0" rtl="0" algn="l">
              <a:lnSpc>
                <a:spcPct val="159952"/>
              </a:lnSpc>
              <a:spcBef>
                <a:spcPts val="0"/>
              </a:spcBef>
              <a:spcAft>
                <a:spcPts val="0"/>
              </a:spcAft>
              <a:buClr>
                <a:schemeClr val="dk1"/>
              </a:buClr>
              <a:buSzPts val="1100"/>
              <a:buFont typeface="Arial"/>
              <a:buNone/>
            </a:pPr>
            <a:r>
              <a:rPr lang="en-US" sz="1600">
                <a:solidFill>
                  <a:srgbClr val="FFFFFF"/>
                </a:solidFill>
                <a:latin typeface="Urbanist"/>
                <a:ea typeface="Urbanist"/>
                <a:cs typeface="Urbanist"/>
                <a:sym typeface="Urbanist"/>
              </a:rPr>
              <a:t>Dengan demikian, sistem yang dibangun dapat berperan sebagai alat pendukung keputusan bagi developer dalam menentukan strategi harga, kombinasi genre, dan dukungan platform, sehingga membantu mengurangi risiko kegagalan investasi pada pengembangan game baru.</a:t>
            </a:r>
            <a:endParaRPr sz="1600">
              <a:solidFill>
                <a:srgbClr val="FFFFFF"/>
              </a:solidFill>
              <a:latin typeface="Urbanist"/>
              <a:ea typeface="Urbanist"/>
              <a:cs typeface="Urbanist"/>
              <a:sym typeface="Urbanist"/>
            </a:endParaRPr>
          </a:p>
          <a:p>
            <a:pPr indent="0" lvl="0" marL="0" marR="0" rtl="0" algn="l">
              <a:lnSpc>
                <a:spcPct val="159952"/>
              </a:lnSpc>
              <a:spcBef>
                <a:spcPts val="0"/>
              </a:spcBef>
              <a:spcAft>
                <a:spcPts val="0"/>
              </a:spcAft>
              <a:buNone/>
            </a:pPr>
            <a:r>
              <a:t/>
            </a:r>
            <a:endParaRPr sz="1600">
              <a:solidFill>
                <a:srgbClr val="FFFFFF"/>
              </a:solidFill>
              <a:latin typeface="Urbanist"/>
              <a:ea typeface="Urbanist"/>
              <a:cs typeface="Urbanist"/>
              <a:sym typeface="Urbanist"/>
            </a:endParaRPr>
          </a:p>
        </p:txBody>
      </p:sp>
      <p:sp>
        <p:nvSpPr>
          <p:cNvPr id="415" name="Google Shape;415;p33"/>
          <p:cNvSpPr txBox="1"/>
          <p:nvPr/>
        </p:nvSpPr>
        <p:spPr>
          <a:xfrm>
            <a:off x="2019776" y="4379416"/>
            <a:ext cx="3580500" cy="2154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a:p>
        </p:txBody>
      </p:sp>
      <p:sp>
        <p:nvSpPr>
          <p:cNvPr id="416" name="Google Shape;416;p33"/>
          <p:cNvSpPr txBox="1"/>
          <p:nvPr/>
        </p:nvSpPr>
        <p:spPr>
          <a:xfrm>
            <a:off x="6677025" y="4690020"/>
            <a:ext cx="3410100" cy="2154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t/>
            </a:r>
            <a:endParaRPr/>
          </a:p>
        </p:txBody>
      </p:sp>
      <p:sp>
        <p:nvSpPr>
          <p:cNvPr id="417" name="Google Shape;417;p33"/>
          <p:cNvSpPr txBox="1"/>
          <p:nvPr/>
        </p:nvSpPr>
        <p:spPr>
          <a:xfrm>
            <a:off x="771525" y="581025"/>
            <a:ext cx="11381400" cy="48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150" u="none" cap="none" strike="noStrike">
                <a:solidFill>
                  <a:srgbClr val="F0F0F0"/>
                </a:solidFill>
                <a:latin typeface="Urbanist"/>
                <a:ea typeface="Urbanist"/>
                <a:cs typeface="Urbanist"/>
                <a:sym typeface="Urbanist"/>
              </a:rPr>
              <a:t>Kesimpulan</a:t>
            </a:r>
            <a:endParaRPr/>
          </a:p>
        </p:txBody>
      </p:sp>
      <p:sp>
        <p:nvSpPr>
          <p:cNvPr id="418" name="Google Shape;418;p33"/>
          <p:cNvSpPr/>
          <p:nvPr/>
        </p:nvSpPr>
        <p:spPr>
          <a:xfrm>
            <a:off x="581025" y="581025"/>
            <a:ext cx="47625" cy="485775"/>
          </a:xfrm>
          <a:prstGeom prst="rect">
            <a:avLst/>
          </a:prstGeom>
          <a:solidFill>
            <a:srgbClr val="00FF9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A0A0A"/>
        </a:solidFill>
      </p:bgPr>
    </p:bg>
    <p:spTree>
      <p:nvGrpSpPr>
        <p:cNvPr id="422" name="Shape 422"/>
        <p:cNvGrpSpPr/>
        <p:nvPr/>
      </p:nvGrpSpPr>
      <p:grpSpPr>
        <a:xfrm>
          <a:off x="0" y="0"/>
          <a:ext cx="0" cy="0"/>
          <a:chOff x="0" y="0"/>
          <a:chExt cx="0" cy="0"/>
        </a:xfrm>
      </p:grpSpPr>
      <p:pic>
        <p:nvPicPr>
          <p:cNvPr descr="image.png" id="423" name="Google Shape;423;p34"/>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424" name="Google Shape;424;p34"/>
          <p:cNvSpPr txBox="1"/>
          <p:nvPr/>
        </p:nvSpPr>
        <p:spPr>
          <a:xfrm>
            <a:off x="305276" y="1825079"/>
            <a:ext cx="11581447" cy="104775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500" u="none" cap="none" strike="noStrike">
                <a:solidFill>
                  <a:srgbClr val="F0F0F0"/>
                </a:solidFill>
                <a:latin typeface="Urbanist"/>
                <a:ea typeface="Urbanist"/>
                <a:cs typeface="Urbanist"/>
                <a:sym typeface="Urbanist"/>
              </a:rPr>
              <a:t>Q &amp; A</a:t>
            </a:r>
            <a:endParaRPr/>
          </a:p>
        </p:txBody>
      </p:sp>
      <p:sp>
        <p:nvSpPr>
          <p:cNvPr id="425" name="Google Shape;425;p34"/>
          <p:cNvSpPr txBox="1"/>
          <p:nvPr/>
        </p:nvSpPr>
        <p:spPr>
          <a:xfrm>
            <a:off x="581025" y="3177629"/>
            <a:ext cx="11029950" cy="48756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2400" u="none" cap="none" strike="noStrike">
                <a:solidFill>
                  <a:srgbClr val="00FF9D"/>
                </a:solidFill>
                <a:latin typeface="Urbanist"/>
                <a:ea typeface="Urbanist"/>
                <a:cs typeface="Urbanist"/>
                <a:sym typeface="Urbanist"/>
              </a:rPr>
              <a:t>Terima Kasih</a:t>
            </a:r>
            <a:endParaRPr/>
          </a:p>
        </p:txBody>
      </p:sp>
      <p:sp>
        <p:nvSpPr>
          <p:cNvPr id="426" name="Google Shape;426;p34"/>
          <p:cNvSpPr txBox="1"/>
          <p:nvPr/>
        </p:nvSpPr>
        <p:spPr>
          <a:xfrm>
            <a:off x="581025" y="4141440"/>
            <a:ext cx="110299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Universitas Negeri Surabaya</a:t>
            </a:r>
            <a:endParaRPr/>
          </a:p>
        </p:txBody>
      </p:sp>
      <p:sp>
        <p:nvSpPr>
          <p:cNvPr id="427" name="Google Shape;427;p34"/>
          <p:cNvSpPr txBox="1"/>
          <p:nvPr/>
        </p:nvSpPr>
        <p:spPr>
          <a:xfrm>
            <a:off x="581025" y="4587180"/>
            <a:ext cx="11029950" cy="27429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None/>
            </a:pPr>
            <a:r>
              <a:rPr b="0" i="0" lang="en-US" sz="1350" u="none" cap="none" strike="noStrike">
                <a:solidFill>
                  <a:srgbClr val="A3A3A3"/>
                </a:solidFill>
                <a:latin typeface="Urbanist"/>
                <a:ea typeface="Urbanist"/>
                <a:cs typeface="Urbanist"/>
                <a:sym typeface="Urbanist"/>
              </a:rPr>
              <a:t>Fakultas Matematika &amp; Ilmu Pengetahuan Alam</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